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3"/>
  </p:notesMasterIdLst>
  <p:handoutMasterIdLst>
    <p:handoutMasterId r:id="rId24"/>
  </p:handoutMasterIdLst>
  <p:sldIdLst>
    <p:sldId id="298" r:id="rId5"/>
    <p:sldId id="257" r:id="rId6"/>
    <p:sldId id="295" r:id="rId7"/>
    <p:sldId id="259" r:id="rId8"/>
    <p:sldId id="296" r:id="rId9"/>
    <p:sldId id="261" r:id="rId10"/>
    <p:sldId id="299" r:id="rId11"/>
    <p:sldId id="263" r:id="rId12"/>
    <p:sldId id="264" r:id="rId13"/>
    <p:sldId id="265" r:id="rId14"/>
    <p:sldId id="300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A1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C0DCE-6F4E-C75C-FFA2-EF9723B43B1D}" v="5" dt="2025-11-22T15:09:37.717"/>
    <p1510:client id="{31FB1050-7846-4081-BAFA-163378670F55}" v="62" dt="2025-11-22T16:01:10.159"/>
    <p1510:client id="{37F0F668-BB7C-3905-97EE-0CFD10EF108E}" v="296" dt="2025-11-22T15:29:03.685"/>
    <p1510:client id="{3B4881C3-6FC1-ED40-F665-9774A2C3ECE4}" v="1205" dt="2025-11-22T16:28:59.044"/>
    <p1510:client id="{47EF7968-72D0-74F4-92DB-DA910F86A417}" v="171" dt="2025-11-22T07:32:48.892"/>
    <p1510:client id="{72AF2CC7-FBD5-48BB-8A5E-4020AA342C66}" v="669" dt="2025-11-22T16:28:38.108"/>
    <p1510:client id="{B6E0B314-E26D-31CF-F700-F28F639FB2EB}" v="5" dt="2025-11-22T15:55:08.706"/>
    <p1510:client id="{BDE02E20-82DB-83ED-7A52-E7B009ACE2C3}" v="134" dt="2025-11-22T16:10:55.823"/>
    <p1510:client id="{CD45A745-AC9A-409C-809D-412F21024E6E}" v="8" dt="2025-11-22T15:59:05.555"/>
    <p1510:client id="{F837657D-2285-A446-AA7F-3CB6E7146162}" v="17" dt="2025-11-22T16:19:22.836"/>
    <p1510:client id="{FC99293F-EC78-76F2-4FF3-F599A727D9F0}" v="201" dt="2025-11-22T06:52:47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7C3BC39-3456-45CD-BC55-CED5F4A8F4E8}" type="datetime1">
              <a:rPr lang="es-ES" smtClean="0"/>
              <a:t>23/11/2025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6FE95A1-8202-4950-A9AC-4BD2729ECCCA}" type="datetime1">
              <a:rPr lang="es-ES" noProof="0" smtClean="0"/>
              <a:t>23/11/2025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4C232560-BB71-DFBA-C92F-FCE1D675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34e52cc3_1_29:notes">
            <a:extLst>
              <a:ext uri="{FF2B5EF4-FFF2-40B4-BE49-F238E27FC236}">
                <a16:creationId xmlns:a16="http://schemas.microsoft.com/office/drawing/2014/main" id="{DA2C9D2F-63F0-FA79-402E-60F6EFDB0F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34e52cc3_1_29:notes">
            <a:extLst>
              <a:ext uri="{FF2B5EF4-FFF2-40B4-BE49-F238E27FC236}">
                <a16:creationId xmlns:a16="http://schemas.microsoft.com/office/drawing/2014/main" id="{771D72D7-AFF7-145D-1081-EEC52AF3C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52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34e52cc3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834e52cc3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834e52cc3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834e52cc3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34e52cc3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834e52cc3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834e52cc3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g3a834e52cc3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9EC40EF4-FD54-56A0-AF81-47C0148A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4CEA067C-36D3-ABFD-D66C-D3CBA967E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7:notes">
            <a:extLst>
              <a:ext uri="{FF2B5EF4-FFF2-40B4-BE49-F238E27FC236}">
                <a16:creationId xmlns:a16="http://schemas.microsoft.com/office/drawing/2014/main" id="{ACD700CA-E35F-36D4-EE39-0BEA0084E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2372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ono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endParaRPr lang="es-ES" noProof="0"/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ad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fecha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2" name="Marcador de pie de página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3" name="Marcador de número de diapositiva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B027EA36-031F-6618-50B2-A3CB8858F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392A4F8-30ED-6014-FB85-2EAAB6353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631A75E-D326-2D4E-6A1B-D1ADF9145B17}"/>
              </a:ext>
            </a:extLst>
          </p:cNvPr>
          <p:cNvSpPr txBox="1"/>
          <p:nvPr/>
        </p:nvSpPr>
        <p:spPr>
          <a:xfrm>
            <a:off x="2656114" y="2841171"/>
            <a:ext cx="609600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>
                <a:latin typeface="Tenorite"/>
              </a:rPr>
              <a:t>JobSy</a:t>
            </a:r>
            <a:r>
              <a:rPr sz="9600">
                <a:latin typeface="Tenorite"/>
                <a:ea typeface="Tenorite"/>
                <a:cs typeface="Tenorite"/>
              </a:rPr>
              <a:t>​</a:t>
            </a:r>
            <a:endParaRPr lang="es-ES" sz="9600"/>
          </a:p>
          <a:p>
            <a:pPr algn="ctr"/>
            <a:endParaRPr lang="es-ES"/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EAC77756-F0A2-29BE-8D8F-10EE24BB4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191" y="1416677"/>
            <a:ext cx="3304239" cy="559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18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238327" y="1335141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4" name="Google Shape;94;p2"/>
          <p:cNvGrpSpPr/>
          <p:nvPr/>
        </p:nvGrpSpPr>
        <p:grpSpPr>
          <a:xfrm>
            <a:off x="4077797" y="1505273"/>
            <a:ext cx="7824398" cy="4638163"/>
            <a:chOff x="-43342" y="-836253"/>
            <a:chExt cx="7677050" cy="3247857"/>
          </a:xfrm>
        </p:grpSpPr>
        <p:sp>
          <p:nvSpPr>
            <p:cNvPr id="95" name="Google Shape;95;p2"/>
            <p:cNvSpPr/>
            <p:nvPr/>
          </p:nvSpPr>
          <p:spPr>
            <a:xfrm>
              <a:off x="0" y="-835180"/>
              <a:ext cx="7633500" cy="1761724"/>
            </a:xfrm>
            <a:prstGeom prst="roundRect">
              <a:avLst>
                <a:gd name="adj" fmla="val 10000"/>
              </a:avLst>
            </a:prstGeom>
            <a:solidFill>
              <a:srgbClr val="FFC067"/>
            </a:solidFill>
            <a:ln>
              <a:noFill/>
            </a:ln>
            <a:effectLst>
              <a:outerShdw blurRad="58081" dist="19360" dir="5400000" algn="ctr" rotWithShape="0">
                <a:srgbClr val="000000">
                  <a:alpha val="62350"/>
                </a:srgbClr>
              </a:outerShdw>
            </a:effectLst>
          </p:spPr>
          <p:txBody>
            <a:bodyPr spcFirstLastPara="1" wrap="square" lIns="92925" tIns="92925" rIns="92925" bIns="92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endParaRPr sz="14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727850" y="-836253"/>
              <a:ext cx="5905858" cy="1768515"/>
            </a:xfrm>
            <a:prstGeom prst="rect">
              <a:avLst/>
            </a:prstGeom>
            <a:solidFill>
              <a:srgbClr val="FFC067"/>
            </a:solidFill>
            <a:ln>
              <a:noFill/>
            </a:ln>
          </p:spPr>
          <p:txBody>
            <a:bodyPr spcFirstLastPara="1" wrap="square" lIns="100650" tIns="100650" rIns="100650" bIns="1006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42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Nicolas Santibáñez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lvl="1" indent="-231775">
                <a:lnSpc>
                  <a:spcPct val="90000"/>
                </a:lnSpc>
                <a:spcBef>
                  <a:spcPts val="925"/>
                </a:spcBef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y QA</a:t>
              </a:r>
              <a:endParaRPr lang="es-CL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lang="es-CL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  <a:p>
              <a:pPr marL="231775" lvl="1" indent="-231775">
                <a:lnSpc>
                  <a:spcPct val="90000"/>
                </a:lnSpc>
                <a:spcBef>
                  <a:spcPts val="305"/>
                </a:spcBef>
                <a:buClr>
                  <a:srgbClr val="FFFFFF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Implementación de plataforma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django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 con conexión a base de datos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Neon</a:t>
              </a:r>
            </a:p>
            <a:p>
              <a:pPr marL="231775" lvl="1" indent="-231775">
                <a:lnSpc>
                  <a:spcPct val="90000"/>
                </a:lnSpc>
                <a:spcBef>
                  <a:spcPts val="305"/>
                </a:spcBef>
                <a:buClr>
                  <a:srgbClr val="FFFFFF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Pruebas funcionales</a:t>
              </a:r>
            </a:p>
            <a:p>
              <a:pPr marL="231775" lvl="1" indent="-231775">
                <a:lnSpc>
                  <a:spcPct val="90000"/>
                </a:lnSpc>
                <a:spcBef>
                  <a:spcPts val="305"/>
                </a:spcBef>
                <a:buClr>
                  <a:srgbClr val="FFFFFF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Gestión de requerimientos</a:t>
              </a: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2611" y="-714693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8081" dist="19360" dir="5400000" algn="ctr" rotWithShape="0">
                <a:srgbClr val="000000">
                  <a:alpha val="62350"/>
                </a:srgbClr>
              </a:outerShdw>
            </a:effectLst>
          </p:spPr>
          <p:txBody>
            <a:bodyPr spcFirstLastPara="1" wrap="square" lIns="92925" tIns="92925" rIns="92925" bIns="92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endParaRPr sz="14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43342" y="1114814"/>
              <a:ext cx="7633500" cy="1296790"/>
            </a:xfrm>
            <a:prstGeom prst="roundRect">
              <a:avLst>
                <a:gd name="adj" fmla="val 10000"/>
              </a:avLst>
            </a:prstGeom>
            <a:solidFill>
              <a:srgbClr val="FFC067"/>
            </a:solidFill>
            <a:ln>
              <a:noFill/>
            </a:ln>
            <a:effectLst>
              <a:outerShdw blurRad="58081" dist="19360" dir="5400000" algn="ctr" rotWithShape="0">
                <a:srgbClr val="000000">
                  <a:alpha val="62350"/>
                </a:srgbClr>
              </a:outerShdw>
            </a:effectLst>
          </p:spPr>
          <p:txBody>
            <a:bodyPr spcFirstLastPara="1" wrap="square" lIns="92925" tIns="92925" rIns="92925" bIns="92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endParaRPr sz="14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19311" y="1109096"/>
              <a:ext cx="5970900" cy="1016361"/>
            </a:xfrm>
            <a:prstGeom prst="rect">
              <a:avLst/>
            </a:prstGeom>
            <a:solidFill>
              <a:srgbClr val="FFC067"/>
            </a:solidFill>
            <a:ln w="9525" cap="flat" cmpd="sng">
              <a:solidFill>
                <a:srgbClr val="FFC0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650" tIns="100650" rIns="100650" bIns="1006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42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Héctor Hidalgo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92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r>
                <a:rPr lang="es-CL" sz="200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Fullstack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QA</a:t>
              </a: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Analista de datos</a:t>
              </a:r>
            </a:p>
            <a:p>
              <a:pPr marL="231775" marR="0" lvl="1" indent="-231775" algn="l" rtl="0">
                <a:lnSpc>
                  <a:spcPct val="90000"/>
                </a:lnSpc>
                <a:spcBef>
                  <a:spcPts val="305"/>
                </a:spcBef>
                <a:spcAft>
                  <a:spcPts val="0"/>
                </a:spcAft>
                <a:buClr>
                  <a:schemeClr val="lt1"/>
                </a:buClr>
                <a:buSzPts val="2033"/>
                <a:buFont typeface="Calibri"/>
                <a:buChar char="•"/>
              </a:pP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01" name="Google Shape;101;p2" title="a76506e2-99f5-4a5f-a324-e3cdb1210d39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238" y="2646500"/>
            <a:ext cx="2503950" cy="39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3501" y="1582367"/>
            <a:ext cx="1781694" cy="1952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3240" y="4311219"/>
            <a:ext cx="1776925" cy="1731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7472C53-2263-ACBF-E95A-47BEA1C4B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89650" y="2169775"/>
            <a:ext cx="4652700" cy="4542300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Comunidad - Iconos gratis de soci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1688" y="3418749"/>
            <a:ext cx="2995700" cy="29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5634275" y="2745725"/>
            <a:ext cx="5718000" cy="3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baja visibilidad de las Pequeñas y Medianas Empresas (PYMES) y la falta de canales efectivos para la comunicación comunitaria y el reporte de incidentes de seguridad/vial en el ámbito local.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7B3DC3-A94A-4D87-86A1-A9A1C6ACF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389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34e52cc3_2_10"/>
          <p:cNvSpPr txBox="1">
            <a:spLocks noGrp="1"/>
          </p:cNvSpPr>
          <p:nvPr>
            <p:ph type="ctrTitle"/>
          </p:nvPr>
        </p:nvSpPr>
        <p:spPr>
          <a:xfrm>
            <a:off x="3876325" y="1127768"/>
            <a:ext cx="4085400" cy="1037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/>
              <a:t>Resultados</a:t>
            </a:r>
            <a:endParaRPr sz="3600"/>
          </a:p>
        </p:txBody>
      </p:sp>
      <p:sp>
        <p:nvSpPr>
          <p:cNvPr id="120" name="Google Shape;120;g3a834e52cc3_2_10"/>
          <p:cNvSpPr txBox="1">
            <a:spLocks noGrp="1"/>
          </p:cNvSpPr>
          <p:nvPr>
            <p:ph type="subTitle" idx="1"/>
          </p:nvPr>
        </p:nvSpPr>
        <p:spPr>
          <a:xfrm>
            <a:off x="1524000" y="2378031"/>
            <a:ext cx="9144000" cy="190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800"/>
              <a:t>Muchas PYMES locales no tienen presencia digital o la tienen fragmentada, lo que dificulta a los vecinos encontrar sus servicios. Además, la coordinación en seguridad comunitaria es ineficiente por la ausencia de una plataforma unificada.</a:t>
            </a:r>
            <a:endParaRPr sz="2800"/>
          </a:p>
        </p:txBody>
      </p:sp>
      <p:pic>
        <p:nvPicPr>
          <p:cNvPr id="121" name="Google Shape;121;g3a834e52cc3_2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788" y="4652275"/>
            <a:ext cx="1666982" cy="167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a834e52cc3_2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8050" y="4652275"/>
            <a:ext cx="1673650" cy="167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a834e52cc3_2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6200" y="4886101"/>
            <a:ext cx="1625650" cy="16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988C3F9-FDA4-0B84-DCCA-401D9306D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34e52cc3_1_13"/>
          <p:cNvSpPr/>
          <p:nvPr/>
        </p:nvSpPr>
        <p:spPr>
          <a:xfrm>
            <a:off x="489650" y="2137075"/>
            <a:ext cx="4899900" cy="4575000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puesta de solución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JobSy, una plataforma web desarrollada en Django que centraliza la oferta de servicios de las PYMES, geolocaliza estos negocios y servicios comunitarios, y fomenta la participación de los vecinos a través de notificaciones informativas y eventos de seguridad.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834e52cc3_1_13"/>
          <p:cNvSpPr txBox="1"/>
          <p:nvPr/>
        </p:nvSpPr>
        <p:spPr>
          <a:xfrm>
            <a:off x="0" y="1143000"/>
            <a:ext cx="1219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g3a834e52cc3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8311" y="2142435"/>
            <a:ext cx="2132975" cy="19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a834e52cc3_1_13"/>
          <p:cNvSpPr txBox="1"/>
          <p:nvPr/>
        </p:nvSpPr>
        <p:spPr>
          <a:xfrm>
            <a:off x="5726050" y="3802425"/>
            <a:ext cx="287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 de Emprendimiento</a:t>
            </a:r>
            <a:endParaRPr sz="1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g3a834e52cc3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3175" y="2008088"/>
            <a:ext cx="1668138" cy="166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a834e52cc3_1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1325" y="4415225"/>
            <a:ext cx="2046625" cy="204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a834e52cc3_1_13"/>
          <p:cNvSpPr txBox="1"/>
          <p:nvPr/>
        </p:nvSpPr>
        <p:spPr>
          <a:xfrm>
            <a:off x="8239838" y="6461850"/>
            <a:ext cx="15981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Comunidad</a:t>
            </a:r>
            <a:endParaRPr sz="1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6C4A55-5DAD-A5F7-8E25-BABAE0EBF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017" y="424543"/>
            <a:ext cx="3012623" cy="8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8961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834e52cc3_2_19"/>
          <p:cNvSpPr txBox="1">
            <a:spLocks noGrp="1"/>
          </p:cNvSpPr>
          <p:nvPr>
            <p:ph type="ctrTitle"/>
          </p:nvPr>
        </p:nvSpPr>
        <p:spPr>
          <a:xfrm>
            <a:off x="3573150" y="500700"/>
            <a:ext cx="5045700" cy="1019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/>
              <a:t>Propuesta</a:t>
            </a:r>
            <a:endParaRPr sz="3600"/>
          </a:p>
        </p:txBody>
      </p:sp>
      <p:sp>
        <p:nvSpPr>
          <p:cNvPr id="144" name="Google Shape;144;g3a834e52cc3_2_19"/>
          <p:cNvSpPr txBox="1">
            <a:spLocks noGrp="1"/>
          </p:cNvSpPr>
          <p:nvPr>
            <p:ph type="subTitle" idx="1"/>
          </p:nvPr>
        </p:nvSpPr>
        <p:spPr>
          <a:xfrm>
            <a:off x="280550" y="1714629"/>
            <a:ext cx="3943412" cy="4665599"/>
          </a:xfrm>
          <a:prstGeom prst="rect">
            <a:avLst/>
          </a:prstGeom>
          <a:solidFill>
            <a:schemeClr val="accent1"/>
          </a:solidFill>
          <a:ln>
            <a:solidFill>
              <a:srgbClr val="FFC000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/>
              <a:t>Beneficios</a:t>
            </a:r>
            <a:endParaRPr lang="es-ES"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Visibilidad Comunitaria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Publicidad 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Aumento de Ventas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Mayor seguridad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CL" sz="2400"/>
              <a:t>Disponibilidad de eventos</a:t>
            </a:r>
            <a:endParaRPr sz="2400"/>
          </a:p>
        </p:txBody>
      </p:sp>
      <p:pic>
        <p:nvPicPr>
          <p:cNvPr id="145" name="Google Shape;145;g3a834e52cc3_2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300" y="1567301"/>
            <a:ext cx="7830599" cy="50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a834e52cc3_2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575" y="4091282"/>
            <a:ext cx="1345475" cy="234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1F38480-60FA-5628-5634-3C3B7A1CD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34e52cc3_1_29"/>
          <p:cNvSpPr txBox="1"/>
          <p:nvPr/>
        </p:nvSpPr>
        <p:spPr>
          <a:xfrm>
            <a:off x="0" y="116325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a834e52cc3_1_29"/>
          <p:cNvSpPr txBox="1"/>
          <p:nvPr/>
        </p:nvSpPr>
        <p:spPr>
          <a:xfrm>
            <a:off x="286453" y="3391131"/>
            <a:ext cx="926205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a834e52cc3_1_29"/>
          <p:cNvSpPr/>
          <p:nvPr/>
        </p:nvSpPr>
        <p:spPr>
          <a:xfrm>
            <a:off x="489650" y="1980125"/>
            <a:ext cx="11424000" cy="1167300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Impulsar el alcance y visibilidad de las pequeñas y medianas empresas locales, generando un punto de encuentro digital que favorezca al comercio y promueva lazos entre la misma comunidad de vecinos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834e52cc3_1_29"/>
          <p:cNvSpPr/>
          <p:nvPr/>
        </p:nvSpPr>
        <p:spPr>
          <a:xfrm>
            <a:off x="489650" y="4123793"/>
            <a:ext cx="9267300" cy="2525999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42900" algn="ctr"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y mantener activos a una cifra importante de Pymes y proveedores servicios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locales, demostrando la predominancia de la plataforma en el medio local.</a:t>
            </a:r>
            <a:endParaRPr lang="es-E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4300" algn="ctr">
              <a:buClr>
                <a:srgbClr val="000000"/>
              </a:buClr>
              <a:buSzPts val="1800"/>
            </a:pPr>
            <a:endParaRPr lang="es-C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342900" algn="ctr" rtl="0"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Fomentar la participación activa de nuestra comunidad, lograr alcanzar durante el primer mes de uso una media de 500 interacciones en el mapa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4300" algn="ctr">
              <a:buClr>
                <a:srgbClr val="000000"/>
              </a:buClr>
              <a:buSzPts val="1800"/>
            </a:pPr>
            <a:endParaRPr lang="es-C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342900" algn="ctr" rtl="0"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Demostrar la efectividad que dispone el sistema para que nuestros vecinos puedan encontrar sus productos en tiempos reducidos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g3a834e52cc3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5850" y="4745490"/>
            <a:ext cx="1807710" cy="180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EBA460-208D-87E9-45C6-6AFB31A4A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017" y="413657"/>
            <a:ext cx="3012623" cy="8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8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/>
        </p:nvSpPr>
        <p:spPr>
          <a:xfrm>
            <a:off x="0" y="12502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38"/>
                <a:ea typeface="Calibri"/>
                <a:cs typeface="Calibri"/>
                <a:sym typeface="Calibri"/>
              </a:rPr>
              <a:t>Alcances y limitaciones del proyecto</a:t>
            </a:r>
            <a:endParaRPr lang="es-ES" sz="1400" b="0" i="0" u="none" strike="noStrike" cap="none">
              <a:solidFill>
                <a:schemeClr val="dk1"/>
              </a:solidFill>
              <a:latin typeface="38"/>
              <a:ea typeface="Arial"/>
              <a:cs typeface="Arial"/>
            </a:endParaRPr>
          </a:p>
        </p:txBody>
      </p:sp>
      <p:pic>
        <p:nvPicPr>
          <p:cNvPr id="163" name="Google Shape;16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31386"/>
            <a:ext cx="11887200" cy="434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148A08F-8F79-96A8-3F19-E222A6B3D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-10886" y="124327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6243011" y="3884756"/>
            <a:ext cx="5526000" cy="269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Permitió la adaptación rápida a los cambios en los requisitos del mapa y del módulo de seguridad</a:t>
            </a:r>
            <a:endParaRPr lang="es-ES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Aseguró la entrega de un producto funcional al final de cada fase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2408" y="1900662"/>
            <a:ext cx="2924955" cy="19840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Google Shape;153;g3a834e52cc3_1_29">
            <a:extLst>
              <a:ext uri="{FF2B5EF4-FFF2-40B4-BE49-F238E27FC236}">
                <a16:creationId xmlns:a16="http://schemas.microsoft.com/office/drawing/2014/main" id="{566D99D8-5F77-4AFA-BB3E-FDD5C44FDE39}"/>
              </a:ext>
            </a:extLst>
          </p:cNvPr>
          <p:cNvSpPr/>
          <p:nvPr/>
        </p:nvSpPr>
        <p:spPr>
          <a:xfrm>
            <a:off x="435221" y="2710028"/>
            <a:ext cx="4667721" cy="2258197"/>
          </a:xfrm>
          <a:prstGeom prst="roundRect">
            <a:avLst>
              <a:gd name="adj" fmla="val 10901"/>
            </a:avLst>
          </a:prstGeom>
          <a:solidFill>
            <a:schemeClr val="accent1"/>
          </a:solidFill>
          <a:ln w="12700" cap="flat" cmpd="sng">
            <a:solidFill>
              <a:srgbClr val="FF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>
              <a:lnSpc>
                <a:spcPts val="2025"/>
              </a:lnSpc>
            </a:pPr>
            <a:r>
              <a:rPr lang="es-CL" sz="2400" baseline="0">
                <a:latin typeface="Calibri"/>
                <a:ea typeface="Segoe UI"/>
                <a:cs typeface="Segoe UI"/>
              </a:rPr>
              <a:t>Metodología Ágil Scrum</a:t>
            </a:r>
            <a:r>
              <a:rPr lang="es-ES" sz="2400">
                <a:latin typeface="Calibri"/>
                <a:ea typeface="Segoe UI"/>
                <a:cs typeface="Segoe UI"/>
              </a:rPr>
              <a:t>​</a:t>
            </a:r>
          </a:p>
          <a:p>
            <a:pPr rtl="0">
              <a:lnSpc>
                <a:spcPts val="2400"/>
              </a:lnSpc>
            </a:pPr>
            <a:r>
              <a:rPr lang="en-US" sz="2800">
                <a:latin typeface="Calibri"/>
                <a:ea typeface="Segoe UI"/>
                <a:cs typeface="Segoe UI"/>
              </a:rPr>
              <a:t>​</a:t>
            </a:r>
          </a:p>
          <a:p>
            <a:pPr marL="457200" lvl="0" indent="-406400" rtl="0">
              <a:lnSpc>
                <a:spcPts val="2025"/>
              </a:lnSpc>
              <a:buFont typeface="Calibri,Sans-Serif"/>
              <a:buChar char="●"/>
            </a:pPr>
            <a:r>
              <a:rPr lang="es-CL" sz="2400" baseline="0">
                <a:latin typeface="Calibri"/>
                <a:ea typeface="Arial"/>
                <a:cs typeface="Arial"/>
              </a:rPr>
              <a:t>4 Sprint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 rtl="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Base Técnica y Registro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 rtl="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Reporte Mínimo y Mapa 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 rtl="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Usabilidad y Comercios</a:t>
            </a:r>
            <a:r>
              <a:rPr lang="en-US" sz="2400">
                <a:latin typeface="Calibri"/>
                <a:ea typeface="Arial"/>
                <a:cs typeface="Arial"/>
              </a:rPr>
              <a:t>​</a:t>
            </a:r>
          </a:p>
          <a:p>
            <a:pPr marL="914400" lvl="1" indent="-406400">
              <a:lnSpc>
                <a:spcPts val="2025"/>
              </a:lnSpc>
              <a:buFont typeface="Calibri,Sans-Serif"/>
              <a:buChar char="○"/>
            </a:pPr>
            <a:r>
              <a:rPr lang="es-CL" sz="2400" baseline="0">
                <a:latin typeface="Calibri"/>
                <a:ea typeface="Arial"/>
                <a:cs typeface="Arial"/>
              </a:rPr>
              <a:t>Estabilidad y Lanzamiento</a:t>
            </a:r>
            <a:r>
              <a:rPr lang="es-CL" sz="2400">
                <a:latin typeface="Calibri"/>
                <a:ea typeface="Arial"/>
                <a:cs typeface="Arial"/>
              </a:rPr>
              <a:t> </a:t>
            </a:r>
            <a:endParaRPr lang="en-US" sz="2400">
              <a:latin typeface="Calibri"/>
              <a:ea typeface="Calibri"/>
              <a:cs typeface="Arial"/>
            </a:endParaRPr>
          </a:p>
          <a:p>
            <a:pPr rtl="0">
              <a:lnSpc>
                <a:spcPts val="2400"/>
              </a:lnSpc>
            </a:pPr>
            <a:r>
              <a:rPr lang="en-US" sz="2800">
                <a:latin typeface="Calibri"/>
                <a:ea typeface="Segoe UI"/>
                <a:cs typeface="Segoe UI"/>
              </a:rPr>
              <a:t>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ABEEE1-14D0-D00C-22CC-65C28E0B9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/>
        </p:nvSpPr>
        <p:spPr>
          <a:xfrm>
            <a:off x="1" y="1078352"/>
            <a:ext cx="121919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lang="es-ES" sz="10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62A5062-1AAD-E267-7851-56AFD731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6F1430F6-19E4-AA58-FAB4-79089B607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1935991"/>
            <a:ext cx="11963400" cy="475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DB7E4188-5C75-EA49-3742-957005DE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>
            <a:extLst>
              <a:ext uri="{FF2B5EF4-FFF2-40B4-BE49-F238E27FC236}">
                <a16:creationId xmlns:a16="http://schemas.microsoft.com/office/drawing/2014/main" id="{BDB8FEB3-8EA9-E465-D36E-9835B074455F}"/>
              </a:ext>
            </a:extLst>
          </p:cNvPr>
          <p:cNvSpPr txBox="1"/>
          <p:nvPr/>
        </p:nvSpPr>
        <p:spPr>
          <a:xfrm>
            <a:off x="-1120587" y="450823"/>
            <a:ext cx="121919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Desglose de proyecto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F83568-738B-BB1C-672C-B9A35C6A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29015812-2FC8-C735-4193-992C31D9F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78" y="1550615"/>
            <a:ext cx="11579038" cy="45635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346972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 Jo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2" name="Google Shape;192;p8"/>
          <p:cNvPicPr preferRelativeResize="0"/>
          <p:nvPr/>
        </p:nvPicPr>
        <p:blipFill>
          <a:blip r:embed="rId3">
            <a:alphaModFix/>
          </a:blip>
          <a:srcRect l="3469" r="-302" b="-524"/>
          <a:stretch>
            <a:fillRect/>
          </a:stretch>
        </p:blipFill>
        <p:spPr>
          <a:xfrm>
            <a:off x="2042748" y="2396803"/>
            <a:ext cx="8299596" cy="4126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8255397-3863-94D7-33EC-2443B24A2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/>
        </p:nvSpPr>
        <p:spPr>
          <a:xfrm>
            <a:off x="44900" y="7580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0" name="Google Shape;2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71" y="1535574"/>
            <a:ext cx="11013552" cy="5159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B91B4C9-1C8F-6276-D52A-5F6074194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/>
        </p:nvSpPr>
        <p:spPr>
          <a:xfrm>
            <a:off x="0" y="9204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C8072C4-F6B7-8A01-E858-7DD210AF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8BAF3E00-7850-6D0A-4C1D-28DB9CFDF800}"/>
              </a:ext>
            </a:extLst>
          </p:cNvPr>
          <p:cNvSpPr/>
          <p:nvPr/>
        </p:nvSpPr>
        <p:spPr>
          <a:xfrm flipH="1">
            <a:off x="279695" y="1566955"/>
            <a:ext cx="3691071" cy="5006086"/>
          </a:xfrm>
          <a:prstGeom prst="snip1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AEFA6B9-8959-47E6-F830-E319814B202D}"/>
              </a:ext>
            </a:extLst>
          </p:cNvPr>
          <p:cNvSpPr/>
          <p:nvPr/>
        </p:nvSpPr>
        <p:spPr>
          <a:xfrm>
            <a:off x="8077724" y="1566955"/>
            <a:ext cx="3834580" cy="5006086"/>
          </a:xfrm>
          <a:prstGeom prst="snip1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25993-4E3A-2531-9553-3A7E1DCC9DD8}"/>
              </a:ext>
            </a:extLst>
          </p:cNvPr>
          <p:cNvSpPr/>
          <p:nvPr/>
        </p:nvSpPr>
        <p:spPr>
          <a:xfrm>
            <a:off x="4229334" y="1566955"/>
            <a:ext cx="3589822" cy="5006086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412CA-5D5A-120C-1562-D81F22A90098}"/>
              </a:ext>
            </a:extLst>
          </p:cNvPr>
          <p:cNvSpPr txBox="1"/>
          <p:nvPr/>
        </p:nvSpPr>
        <p:spPr>
          <a:xfrm>
            <a:off x="670056" y="1566955"/>
            <a:ext cx="29103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b="1"/>
              <a:t>Frontend</a:t>
            </a:r>
            <a:endParaRPr lang="en-US" b="1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7EFDD1A1-2DC6-91C3-7C4A-774BFEFC0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807" y="1936287"/>
            <a:ext cx="238084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estilos.css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index.css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(Vanilla)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8ABCBF-B4CC-A5CA-0FA2-A640EA487337}"/>
              </a:ext>
            </a:extLst>
          </p:cNvPr>
          <p:cNvSpPr txBox="1"/>
          <p:nvPr/>
        </p:nvSpPr>
        <p:spPr>
          <a:xfrm>
            <a:off x="470963" y="3766813"/>
            <a:ext cx="331786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/>
              <a:t>Fetch API (AJAX) para consumir endpoints JSON </a:t>
            </a:r>
            <a:r>
              <a:rPr lang="en-US" err="1"/>
              <a:t>Modales</a:t>
            </a:r>
            <a:r>
              <a:rPr lang="en-US"/>
              <a:t> </a:t>
            </a:r>
            <a:r>
              <a:rPr lang="en-US" err="1"/>
              <a:t>personalizados</a:t>
            </a:r>
            <a:r>
              <a:rPr lang="en-US"/>
              <a:t> (JS + CSS) </a:t>
            </a:r>
            <a:r>
              <a:rPr lang="en-US" err="1"/>
              <a:t>Validación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frontend (inputs y </a:t>
            </a:r>
            <a:r>
              <a:rPr lang="en-US" err="1"/>
              <a:t>filtros</a:t>
            </a:r>
            <a:r>
              <a:rPr lang="en-US"/>
              <a:t>) </a:t>
            </a:r>
            <a:r>
              <a:rPr lang="en-US" err="1"/>
              <a:t>Geolocalización</a:t>
            </a:r>
            <a:r>
              <a:rPr lang="en-US"/>
              <a:t> del </a:t>
            </a:r>
            <a:r>
              <a:rPr lang="en-US" err="1"/>
              <a:t>navegador</a:t>
            </a:r>
            <a:r>
              <a:rPr lang="en-US"/>
              <a:t> (</a:t>
            </a:r>
            <a:r>
              <a:rPr lang="en-US" err="1"/>
              <a:t>navigator.geolocation</a:t>
            </a:r>
            <a:r>
              <a:rPr lang="en-US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7411CC-766F-ED23-AE0C-CE6EE4AE9474}"/>
              </a:ext>
            </a:extLst>
          </p:cNvPr>
          <p:cNvSpPr txBox="1"/>
          <p:nvPr/>
        </p:nvSpPr>
        <p:spPr>
          <a:xfrm>
            <a:off x="4836999" y="1947818"/>
            <a:ext cx="2517999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Lenguaje y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Python 3.12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Django 4.0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980BB1-671E-3C7A-B854-140BA6F66B00}"/>
              </a:ext>
            </a:extLst>
          </p:cNvPr>
          <p:cNvSpPr txBox="1"/>
          <p:nvPr/>
        </p:nvSpPr>
        <p:spPr>
          <a:xfrm>
            <a:off x="4599808" y="1568434"/>
            <a:ext cx="29103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b="1"/>
              <a:t>Backend</a:t>
            </a:r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C73484-8C8A-C1C3-D71B-F01D4DD92F9A}"/>
              </a:ext>
            </a:extLst>
          </p:cNvPr>
          <p:cNvSpPr txBox="1"/>
          <p:nvPr/>
        </p:nvSpPr>
        <p:spPr>
          <a:xfrm>
            <a:off x="8413982" y="1566955"/>
            <a:ext cx="291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/>
              <a:t>Seguridad</a:t>
            </a:r>
            <a:endParaRPr lang="en-US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038A0B-ADF6-17B7-30EF-C15AAD314AB9}"/>
              </a:ext>
            </a:extLst>
          </p:cNvPr>
          <p:cNvSpPr txBox="1"/>
          <p:nvPr/>
        </p:nvSpPr>
        <p:spPr>
          <a:xfrm>
            <a:off x="8426821" y="2010481"/>
            <a:ext cx="315249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PostgreSQL (Neon Database Cloud)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Conexión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SSL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obligatoria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CSRF Protection (token)</a:t>
            </a:r>
          </a:p>
          <a:p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Protecciones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 Django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XSS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Inyección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Clickjacking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Escapado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automático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de templates</a:t>
            </a:r>
          </a:p>
          <a:p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Restricción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comunes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emprendedores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staff (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administración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Psycopg2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Driver PostgreSQL para Django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Conexiones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seguras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URI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Modo pooler de Neon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FDF8A7-DE47-5D7B-69EC-164A61C0C1FF}"/>
              </a:ext>
            </a:extLst>
          </p:cNvPr>
          <p:cNvSpPr txBox="1"/>
          <p:nvPr/>
        </p:nvSpPr>
        <p:spPr>
          <a:xfrm>
            <a:off x="4260071" y="3018160"/>
            <a:ext cx="3589822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Arial"/>
                <a:cs typeface="Arial"/>
              </a:rPr>
              <a:t>Módulos Django: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django.urls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django.shortcuts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django.db.models</a:t>
            </a:r>
            <a:r>
              <a:rPr lang="en-US" altLang="en-US" sz="1400">
                <a:latin typeface="Arial"/>
                <a:cs typeface="Arial"/>
              </a:rPr>
              <a:t> (Q, Prefetch, Avg)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django.contrib.auth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django.middleware.security.SecurityMiddleware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django.core.files.storage</a:t>
            </a:r>
            <a:r>
              <a:rPr lang="en-US" altLang="en-US" sz="1400">
                <a:latin typeface="Arial"/>
                <a:cs typeface="Arial"/>
              </a:rPr>
              <a:t> (para </a:t>
            </a:r>
            <a:r>
              <a:rPr lang="en-US" altLang="en-US" sz="1400" err="1">
                <a:latin typeface="Arial"/>
                <a:cs typeface="Arial"/>
              </a:rPr>
              <a:t>imágenes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 panose="020B0604020202020204" pitchFamily="34" charset="0"/>
                <a:cs typeface="Arial" panose="020B0604020202020204" pitchFamily="34" charset="0"/>
              </a:rPr>
              <a:t>django.views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err="1">
                <a:latin typeface="Arial"/>
                <a:cs typeface="Arial"/>
              </a:rPr>
              <a:t>Librerias</a:t>
            </a:r>
            <a:r>
              <a:rPr lang="en-US" altLang="en-US" sz="1400" b="1">
                <a:latin typeface="Arial"/>
                <a:cs typeface="Arial"/>
              </a:rPr>
              <a:t> </a:t>
            </a:r>
            <a:r>
              <a:rPr lang="en-US" altLang="en-US" sz="1400" b="1" err="1">
                <a:latin typeface="Arial"/>
                <a:cs typeface="Arial"/>
              </a:rPr>
              <a:t>Usadas</a:t>
            </a:r>
            <a:r>
              <a:rPr lang="en-US" altLang="en-US" sz="1400" b="1">
                <a:latin typeface="Arial"/>
                <a:cs typeface="Arial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>
                <a:latin typeface="Arial"/>
                <a:cs typeface="Arial"/>
              </a:rPr>
              <a:t>datetime (date, </a:t>
            </a:r>
            <a:r>
              <a:rPr lang="en-US" altLang="en-US" sz="1400" err="1">
                <a:latin typeface="Arial"/>
                <a:cs typeface="Arial"/>
              </a:rPr>
              <a:t>timedelta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json</a:t>
            </a:r>
            <a:r>
              <a:rPr lang="en-US" altLang="en-US" sz="1400">
                <a:latin typeface="Arial"/>
                <a:cs typeface="Arial"/>
              </a:rPr>
              <a:t> (</a:t>
            </a:r>
            <a:r>
              <a:rPr lang="en-US" altLang="en-US" sz="1400" err="1">
                <a:latin typeface="Arial"/>
                <a:cs typeface="Arial"/>
              </a:rPr>
              <a:t>manejo</a:t>
            </a:r>
            <a:r>
              <a:rPr lang="en-US" altLang="en-US" sz="1400">
                <a:latin typeface="Arial"/>
                <a:cs typeface="Arial"/>
              </a:rPr>
              <a:t> </a:t>
            </a:r>
            <a:r>
              <a:rPr lang="en-US" altLang="en-US" sz="1400" err="1">
                <a:latin typeface="Arial"/>
                <a:cs typeface="Arial"/>
              </a:rPr>
              <a:t>polígono</a:t>
            </a:r>
            <a:r>
              <a:rPr lang="en-US" altLang="en-US" sz="1400">
                <a:latin typeface="Arial"/>
                <a:cs typeface="Arial"/>
              </a:rPr>
              <a:t> </a:t>
            </a:r>
            <a:r>
              <a:rPr lang="en-US" altLang="en-US" sz="1400" err="1">
                <a:latin typeface="Arial"/>
                <a:cs typeface="Arial"/>
              </a:rPr>
              <a:t>sectores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err="1">
                <a:latin typeface="Arial"/>
                <a:cs typeface="Arial"/>
              </a:rPr>
              <a:t>pathlib</a:t>
            </a:r>
            <a:r>
              <a:rPr lang="en-US" altLang="en-US" sz="1400">
                <a:latin typeface="Arial"/>
                <a:cs typeface="Arial"/>
              </a:rPr>
              <a:t> (</a:t>
            </a:r>
            <a:r>
              <a:rPr lang="en-US" altLang="en-US" sz="1400" err="1">
                <a:latin typeface="Arial"/>
                <a:cs typeface="Arial"/>
              </a:rPr>
              <a:t>rutas</a:t>
            </a:r>
            <a:r>
              <a:rPr lang="en-US" altLang="en-US" sz="1400">
                <a:latin typeface="Arial"/>
                <a:cs typeface="Arial"/>
              </a:rPr>
              <a:t> </a:t>
            </a:r>
            <a:r>
              <a:rPr lang="en-US" altLang="en-US" sz="1400" err="1">
                <a:latin typeface="Arial"/>
                <a:cs typeface="Arial"/>
              </a:rPr>
              <a:t>seguras</a:t>
            </a:r>
            <a:r>
              <a:rPr lang="en-US" altLang="en-US" sz="1400">
                <a:latin typeface="Arial"/>
                <a:cs typeface="Arial"/>
              </a:rPr>
              <a:t>)</a:t>
            </a:r>
          </a:p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/>
        </p:nvSpPr>
        <p:spPr>
          <a:xfrm>
            <a:off x="-938695" y="220308"/>
            <a:ext cx="8757479" cy="10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Veamos cómo funciona </a:t>
            </a:r>
            <a:r>
              <a:rPr lang="es-CL" sz="360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JobSy</a:t>
            </a:r>
            <a:endParaRPr lang="es-ES" err="1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 descr="Imagen que contiene interior, naranja, tabla, computadora&#10;&#10;El contenido generado por IA puede ser incorrecto.">
            <a:extLst>
              <a:ext uri="{FF2B5EF4-FFF2-40B4-BE49-F238E27FC236}">
                <a16:creationId xmlns:a16="http://schemas.microsoft.com/office/drawing/2014/main" id="{2242FCD8-2CD2-B6FA-E050-A24D51873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146" y="1601887"/>
            <a:ext cx="7402287" cy="4887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314A71-387A-D99B-5514-1A40F701D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/>
        </p:nvSpPr>
        <p:spPr>
          <a:xfrm>
            <a:off x="132522" y="443095"/>
            <a:ext cx="272426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2D4093-058E-ED30-BDA9-F56AC4E64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7BD1BBD1-1ED4-6FF3-9C0B-4CC6BB559673}"/>
              </a:ext>
            </a:extLst>
          </p:cNvPr>
          <p:cNvSpPr/>
          <p:nvPr/>
        </p:nvSpPr>
        <p:spPr>
          <a:xfrm flipH="1">
            <a:off x="2764478" y="1511738"/>
            <a:ext cx="3691071" cy="5006086"/>
          </a:xfrm>
          <a:prstGeom prst="snip1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3">
            <a:extLst>
              <a:ext uri="{FF2B5EF4-FFF2-40B4-BE49-F238E27FC236}">
                <a16:creationId xmlns:a16="http://schemas.microsoft.com/office/drawing/2014/main" id="{F76EDDBB-5CA3-EC48-3ABB-44F3838DF2C4}"/>
              </a:ext>
            </a:extLst>
          </p:cNvPr>
          <p:cNvSpPr/>
          <p:nvPr/>
        </p:nvSpPr>
        <p:spPr>
          <a:xfrm flipH="1">
            <a:off x="7723000" y="1511738"/>
            <a:ext cx="3691071" cy="5006086"/>
          </a:xfrm>
          <a:prstGeom prst="snip1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54A0ED-E893-BA05-A044-1DF6C2282E31}"/>
              </a:ext>
            </a:extLst>
          </p:cNvPr>
          <p:cNvSpPr txBox="1"/>
          <p:nvPr/>
        </p:nvSpPr>
        <p:spPr>
          <a:xfrm>
            <a:off x="3050082" y="2506381"/>
            <a:ext cx="3257088" cy="3784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Tasa de Conversión (Emprendedores Pagados)</a:t>
            </a:r>
            <a:endParaRPr lang="es-E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Aumento de puntos comerciales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Comunidad más informada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Promover la venta de servicios y productos de una comunidad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AFD3D2A-84BD-9A73-9452-A079746BE15B}"/>
              </a:ext>
            </a:extLst>
          </p:cNvPr>
          <p:cNvSpPr txBox="1"/>
          <p:nvPr/>
        </p:nvSpPr>
        <p:spPr>
          <a:xfrm>
            <a:off x="8163212" y="2152990"/>
            <a:ext cx="3257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Informático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65B999-564B-6799-D2D5-A4ACB68853D7}"/>
              </a:ext>
            </a:extLst>
          </p:cNvPr>
          <p:cNvSpPr txBox="1"/>
          <p:nvPr/>
        </p:nvSpPr>
        <p:spPr>
          <a:xfrm>
            <a:off x="3050081" y="2053598"/>
            <a:ext cx="32570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Comercial</a:t>
            </a:r>
            <a:br>
              <a:rPr lang="es-ES"/>
            </a:br>
            <a:br>
              <a:rPr lang="es-ES"/>
            </a:br>
            <a:endParaRPr lang="es-ES" err="1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4F9A87-3607-7ED7-4B41-3E7CAACB5256}"/>
              </a:ext>
            </a:extLst>
          </p:cNvPr>
          <p:cNvSpPr txBox="1"/>
          <p:nvPr/>
        </p:nvSpPr>
        <p:spPr>
          <a:xfrm>
            <a:off x="8163211" y="2506380"/>
            <a:ext cx="3257088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Sistema Escalable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Seguridad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s-ES"/>
              <a:t>Integridad</a:t>
            </a:r>
          </a:p>
          <a:p>
            <a:pPr marL="285750" indent="-285750"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Disponibilidad y Rendimiento</a:t>
            </a:r>
          </a:p>
          <a:p>
            <a:pPr marL="285750" indent="-285750"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Calidad del Código</a:t>
            </a:r>
            <a:br>
              <a:rPr lang="es-ES"/>
            </a:br>
            <a:endParaRPr lang="es-ES"/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/>
        </p:nvSpPr>
        <p:spPr>
          <a:xfrm>
            <a:off x="92666" y="444164"/>
            <a:ext cx="661504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lang="es-ES"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4E0B28-53D4-42DC-6A0E-09D6D1019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1" y="446314"/>
            <a:ext cx="3012623" cy="805543"/>
          </a:xfrm>
          <a:prstGeom prst="rect">
            <a:avLst/>
          </a:prstGeom>
        </p:spPr>
      </p:pic>
      <p:pic>
        <p:nvPicPr>
          <p:cNvPr id="2" name="Imagen 1" descr="Tiempo rápido - Iconos gratis de hora y fecha">
            <a:extLst>
              <a:ext uri="{FF2B5EF4-FFF2-40B4-BE49-F238E27FC236}">
                <a16:creationId xmlns:a16="http://schemas.microsoft.com/office/drawing/2014/main" id="{B3683D41-E5FE-E7BC-969A-56B20A656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4197961" y="2157707"/>
            <a:ext cx="3569528" cy="2573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n 3" descr="Descarga iconos gratuitos de Errores en PNG y SVG">
            <a:extLst>
              <a:ext uri="{FF2B5EF4-FFF2-40B4-BE49-F238E27FC236}">
                <a16:creationId xmlns:a16="http://schemas.microsoft.com/office/drawing/2014/main" id="{9D49309F-DEF7-4492-1C8E-2146C417A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556" y="2094947"/>
            <a:ext cx="2458279" cy="24582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n 4" descr="eXtremaNET | 01-requerimientos">
            <a:extLst>
              <a:ext uri="{FF2B5EF4-FFF2-40B4-BE49-F238E27FC236}">
                <a16:creationId xmlns:a16="http://schemas.microsoft.com/office/drawing/2014/main" id="{5CE0C7AE-FBF2-B39A-70DC-ADD6BFD6F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65" y="2231887"/>
            <a:ext cx="24384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BF54BA-AB65-B565-77E7-EE88AA56F3D9}"/>
              </a:ext>
            </a:extLst>
          </p:cNvPr>
          <p:cNvSpPr txBox="1"/>
          <p:nvPr/>
        </p:nvSpPr>
        <p:spPr>
          <a:xfrm>
            <a:off x="996458" y="5023757"/>
            <a:ext cx="23600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/>
              <a:t>Requerimientos faltantes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368C5C-969B-8B0F-570A-021253A60415}"/>
              </a:ext>
            </a:extLst>
          </p:cNvPr>
          <p:cNvSpPr txBox="1"/>
          <p:nvPr/>
        </p:nvSpPr>
        <p:spPr>
          <a:xfrm>
            <a:off x="5116148" y="5164640"/>
            <a:ext cx="19734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Gestión tiempo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DD72B1-2D2B-4A2C-09FD-F728F8234938}"/>
              </a:ext>
            </a:extLst>
          </p:cNvPr>
          <p:cNvSpPr txBox="1"/>
          <p:nvPr/>
        </p:nvSpPr>
        <p:spPr>
          <a:xfrm>
            <a:off x="8771066" y="5023757"/>
            <a:ext cx="23600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/>
              <a:t>Errores técnicos inicialmente y otros </a:t>
            </a: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/>
        </p:nvSpPr>
        <p:spPr>
          <a:xfrm>
            <a:off x="96580" y="5861744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gracias por su atención</a:t>
            </a:r>
            <a:endParaRPr lang="es-ES"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0" name="Google Shape;230;p14" title="Gemini_Generated_Image_xh4kptxh4kptxh4k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826" y="1075975"/>
            <a:ext cx="7172599" cy="4781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8268A2A-99D6-9AD8-8BEB-4D524404E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800" y="270092"/>
            <a:ext cx="3012623" cy="8055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Una sola líne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14FED0-9A95-4A83-8CAA-A3BB5938F805}">
  <ds:schemaRefs>
    <ds:schemaRef ds:uri="16c05727-aa75-4e4a-9b5f-8a80a1165891"/>
    <ds:schemaRef ds:uri="http://www.w3.org/XML/1998/namespace"/>
    <ds:schemaRef ds:uri="http://purl.org/dc/terms/"/>
    <ds:schemaRef ds:uri="71af3243-3dd4-4a8d-8c0d-dd76da1f02a5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230e9df3-be65-4c73-a93b-d1236ebd677e"/>
    <ds:schemaRef ds:uri="http://schemas.microsoft.com/sharepoint/v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75DC67E-4FAC-4989-A1C6-9CCFAE7240B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604</Words>
  <Application>Microsoft Office PowerPoint</Application>
  <PresentationFormat>Widescreen</PresentationFormat>
  <Paragraphs>131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38</vt:lpstr>
      <vt:lpstr>Arial</vt:lpstr>
      <vt:lpstr>Calibri</vt:lpstr>
      <vt:lpstr>Calibri,Sans-Serif</vt:lpstr>
      <vt:lpstr>Tenorite</vt:lpstr>
      <vt:lpstr>Una sola línea</vt:lpstr>
      <vt:lpstr>PowerPoint Presentation</vt:lpstr>
      <vt:lpstr>PowerPoint Presentation</vt:lpstr>
      <vt:lpstr>PowerPoint Presentation</vt:lpstr>
      <vt:lpstr>Resultados</vt:lpstr>
      <vt:lpstr>PowerPoint Presentation</vt:lpstr>
      <vt:lpstr>Propuesta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HECTOR IGNACIO MOISES HIDALGO TEILLIER</cp:lastModifiedBy>
  <cp:revision>2</cp:revision>
  <dcterms:created xsi:type="dcterms:W3CDTF">2025-11-22T06:25:08Z</dcterms:created>
  <dcterms:modified xsi:type="dcterms:W3CDTF">2025-11-24T01:07:03Z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