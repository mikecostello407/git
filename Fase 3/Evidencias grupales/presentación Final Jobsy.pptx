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6"/>
  </p:notesMasterIdLst>
  <p:handoutMasterIdLst>
    <p:handoutMasterId r:id="rId27"/>
  </p:handoutMasterIdLst>
  <p:sldIdLst>
    <p:sldId id="298" r:id="rId5"/>
    <p:sldId id="257" r:id="rId6"/>
    <p:sldId id="295" r:id="rId7"/>
    <p:sldId id="259" r:id="rId8"/>
    <p:sldId id="301" r:id="rId9"/>
    <p:sldId id="296" r:id="rId10"/>
    <p:sldId id="261" r:id="rId11"/>
    <p:sldId id="299" r:id="rId12"/>
    <p:sldId id="263" r:id="rId13"/>
    <p:sldId id="264" r:id="rId14"/>
    <p:sldId id="265" r:id="rId15"/>
    <p:sldId id="300" r:id="rId16"/>
    <p:sldId id="266" r:id="rId17"/>
    <p:sldId id="267" r:id="rId18"/>
    <p:sldId id="268" r:id="rId19"/>
    <p:sldId id="302" r:id="rId20"/>
    <p:sldId id="303" r:id="rId21"/>
    <p:sldId id="269" r:id="rId22"/>
    <p:sldId id="270" r:id="rId23"/>
    <p:sldId id="271" r:id="rId24"/>
    <p:sldId id="272" r:id="rId25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BA1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AA3B0E-40ED-4665-99A6-1611BD8417E7}" v="1" dt="2025-12-09T04:24:46.4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00" y="5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7C3BC39-3456-45CD-BC55-CED5F4A8F4E8}" type="datetime1">
              <a:rPr lang="es-ES" smtClean="0"/>
              <a:t>09/12/2025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6FE95A1-8202-4950-A9AC-4BD2729ECCCA}" type="datetime1">
              <a:rPr lang="es-ES" noProof="0" smtClean="0"/>
              <a:t>09/12/2025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4C232560-BB71-DFBA-C92F-FCE1D675C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834e52cc3_1_29:notes">
            <a:extLst>
              <a:ext uri="{FF2B5EF4-FFF2-40B4-BE49-F238E27FC236}">
                <a16:creationId xmlns:a16="http://schemas.microsoft.com/office/drawing/2014/main" id="{DA2C9D2F-63F0-FA79-402E-60F6EFDB0F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g3a834e52cc3_1_29:notes">
            <a:extLst>
              <a:ext uri="{FF2B5EF4-FFF2-40B4-BE49-F238E27FC236}">
                <a16:creationId xmlns:a16="http://schemas.microsoft.com/office/drawing/2014/main" id="{771D72D7-AFF7-145D-1081-EEC52AF3C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3527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834e52cc3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834e52cc3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834e52cc3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834e52cc3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834e52cc3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834e52cc3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834e52cc3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g3a834e52cc3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9EC40EF4-FD54-56A0-AF81-47C0148AC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4CEA067C-36D3-ABFD-D66C-D3CBA967E0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p7:notes">
            <a:extLst>
              <a:ext uri="{FF2B5EF4-FFF2-40B4-BE49-F238E27FC236}">
                <a16:creationId xmlns:a16="http://schemas.microsoft.com/office/drawing/2014/main" id="{ACD700CA-E35F-36D4-EE39-0BEA0084E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2372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47FDE0DC-4E0E-38D3-012C-31DD0C6F0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>
            <a:extLst>
              <a:ext uri="{FF2B5EF4-FFF2-40B4-BE49-F238E27FC236}">
                <a16:creationId xmlns:a16="http://schemas.microsoft.com/office/drawing/2014/main" id="{1D60C95A-5759-E92B-9BD1-42AB1DBC5E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" name="Google Shape;203;p10:notes">
            <a:extLst>
              <a:ext uri="{FF2B5EF4-FFF2-40B4-BE49-F238E27FC236}">
                <a16:creationId xmlns:a16="http://schemas.microsoft.com/office/drawing/2014/main" id="{59580CAE-74A7-5535-D921-6CE8F5904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24337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4" name="Google Shape;2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6" name="Google Shape;2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onog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4" name="Marcador de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5" name="Marcador de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7" name="Marcador de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1" name="Marcador de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2" name="Marcador de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3" name="Marcador de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4" name="Marcador de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13" name="Marcador de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8" name="Marcador de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0" name="Marcador de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3" name="Marcador de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4" name="Marcador de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2" name="Marcador de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4" name="Marcador de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6" name="Marcador de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7" name="Marcador de fech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19" name="Marcador de número de diapositiva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tr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de mercado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Marcador de conteni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conteni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endParaRPr lang="es-ES" noProof="0"/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ido 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adr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ítulo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8" name="Marcador de texto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6" name="Marcador de texto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3" name="Marcador de texto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0" name="Marcador de texto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9" name="Marcador de texto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1" name="Marcador de texto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2" name="Marcador de texto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arcador de fecha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32" name="Marcador de pie de página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33" name="Marcador de número de diapositiva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20" name="Marcador de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5" name="Marcador de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6" name="Marcador de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7" name="Marcador de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8" name="Marcador de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9" name="Marcador de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onogram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8" name="Marcador de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9" name="Marcador de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6" name="Marcador de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7" name="Marcador de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9" name="Marcador de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0" name="Marcador de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1" name="Marcador de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2" name="Marcador de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3" name="Marcador de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4" name="Marcador de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5" name="Marcador de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6" name="Marcador de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7" name="Marcador de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8" name="Marcador de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9" name="Marcador de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0" name="Marcador de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1" name="Marcador de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Marcador de fech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37" name="Marcador de pie de página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38" name="Marcador de número de diapositiva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4 persona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8 persona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5" name="Marcador de posición de imagen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6" name="Marcador de posición de imagen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7" name="Marcador de posición de imagen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58" name="Marcador de posición de imagen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2" name="Marcador de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9" name="Marcador de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3" name="Marcador de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0" name="Marcador de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4" name="Marcador de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1" name="Marcador de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5" name="Marcador de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conteni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conteni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conteni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conteni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ier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B027EA36-031F-6618-50B2-A3CB8858F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392A4F8-30ED-6014-FB85-2EAAB6353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017" y="413657"/>
            <a:ext cx="3012623" cy="80554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631A75E-D326-2D4E-6A1B-D1ADF9145B17}"/>
              </a:ext>
            </a:extLst>
          </p:cNvPr>
          <p:cNvSpPr txBox="1"/>
          <p:nvPr/>
        </p:nvSpPr>
        <p:spPr>
          <a:xfrm>
            <a:off x="2656114" y="2841171"/>
            <a:ext cx="6096000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600" b="1">
                <a:latin typeface="Tenorite"/>
              </a:rPr>
              <a:t>JobSy</a:t>
            </a:r>
            <a:r>
              <a:rPr sz="9600">
                <a:latin typeface="Tenorite"/>
                <a:ea typeface="Tenorite"/>
                <a:cs typeface="Tenorite"/>
              </a:rPr>
              <a:t>​</a:t>
            </a:r>
            <a:endParaRPr lang="es-ES" sz="9600"/>
          </a:p>
          <a:p>
            <a:pPr algn="ctr"/>
            <a:endParaRPr lang="es-ES"/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EAC77756-F0A2-29BE-8D8F-10EE24BB4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191" y="1416677"/>
            <a:ext cx="3304239" cy="559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18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238327" y="1335141"/>
            <a:ext cx="3609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94" name="Google Shape;94;p2"/>
          <p:cNvGrpSpPr/>
          <p:nvPr/>
        </p:nvGrpSpPr>
        <p:grpSpPr>
          <a:xfrm>
            <a:off x="4077797" y="1505273"/>
            <a:ext cx="7824398" cy="4638163"/>
            <a:chOff x="-43342" y="-836253"/>
            <a:chExt cx="7677050" cy="3247857"/>
          </a:xfrm>
        </p:grpSpPr>
        <p:sp>
          <p:nvSpPr>
            <p:cNvPr id="95" name="Google Shape;95;p2"/>
            <p:cNvSpPr/>
            <p:nvPr/>
          </p:nvSpPr>
          <p:spPr>
            <a:xfrm>
              <a:off x="0" y="-835180"/>
              <a:ext cx="7633500" cy="1761724"/>
            </a:xfrm>
            <a:prstGeom prst="roundRect">
              <a:avLst>
                <a:gd name="adj" fmla="val 10000"/>
              </a:avLst>
            </a:prstGeom>
            <a:solidFill>
              <a:srgbClr val="FFC067"/>
            </a:solidFill>
            <a:ln>
              <a:noFill/>
            </a:ln>
            <a:effectLst>
              <a:outerShdw blurRad="58081" dist="19360" dir="5400000" algn="ctr" rotWithShape="0">
                <a:srgbClr val="000000">
                  <a:alpha val="62350"/>
                </a:srgbClr>
              </a:outerShdw>
            </a:effectLst>
          </p:spPr>
          <p:txBody>
            <a:bodyPr spcFirstLastPara="1" wrap="square" lIns="92925" tIns="92925" rIns="92925" bIns="92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3"/>
                <a:buFont typeface="Arial"/>
                <a:buNone/>
              </a:pPr>
              <a:endParaRPr sz="14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727850" y="-836253"/>
              <a:ext cx="5905858" cy="1768515"/>
            </a:xfrm>
            <a:prstGeom prst="rect">
              <a:avLst/>
            </a:prstGeom>
            <a:solidFill>
              <a:srgbClr val="FFC067"/>
            </a:solidFill>
            <a:ln>
              <a:noFill/>
            </a:ln>
          </p:spPr>
          <p:txBody>
            <a:bodyPr spcFirstLastPara="1" wrap="square" lIns="100650" tIns="100650" rIns="100650" bIns="1006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42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Nicolas Santibáñez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31775" lvl="1" indent="-231775">
                <a:lnSpc>
                  <a:spcPct val="90000"/>
                </a:lnSpc>
                <a:spcBef>
                  <a:spcPts val="925"/>
                </a:spcBef>
                <a:buClr>
                  <a:schemeClr val="lt1"/>
                </a:buClr>
                <a:buSzPts val="2033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</a:t>
              </a:r>
              <a:r>
                <a:rPr lang="es-CL" sz="200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backend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 y QA</a:t>
              </a:r>
              <a:endParaRPr lang="es-CL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  <a:p>
              <a:pPr marL="231775" marR="0" lvl="1" indent="-231775" algn="l" rtl="0">
                <a:lnSpc>
                  <a:spcPct val="90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lt1"/>
                </a:buClr>
                <a:buSzPts val="2033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lang="es-CL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  <a:p>
              <a:pPr marL="231775" lvl="1" indent="-231775">
                <a:lnSpc>
                  <a:spcPct val="90000"/>
                </a:lnSpc>
                <a:spcBef>
                  <a:spcPts val="305"/>
                </a:spcBef>
                <a:buClr>
                  <a:srgbClr val="FFFFFF"/>
                </a:buClr>
                <a:buSzPts val="2033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Implementación de plataforma </a:t>
              </a:r>
              <a:r>
                <a:rPr lang="es-CL" sz="2000" err="1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django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 con conexión a base de datos </a:t>
              </a:r>
              <a:r>
                <a:rPr lang="es-CL" sz="2000" err="1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Neon</a:t>
              </a:r>
            </a:p>
            <a:p>
              <a:pPr marL="231775" lvl="1" indent="-231775">
                <a:lnSpc>
                  <a:spcPct val="90000"/>
                </a:lnSpc>
                <a:spcBef>
                  <a:spcPts val="305"/>
                </a:spcBef>
                <a:buClr>
                  <a:srgbClr val="FFFFFF"/>
                </a:buClr>
                <a:buSzPts val="2033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Pruebas funcionales</a:t>
              </a:r>
            </a:p>
            <a:p>
              <a:pPr marL="231775" lvl="1" indent="-231775">
                <a:lnSpc>
                  <a:spcPct val="90000"/>
                </a:lnSpc>
                <a:spcBef>
                  <a:spcPts val="305"/>
                </a:spcBef>
                <a:buClr>
                  <a:srgbClr val="FFFFFF"/>
                </a:buClr>
                <a:buSzPts val="2033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Gestión de requerimientos</a:t>
              </a: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2611" y="-714693"/>
              <a:ext cx="1526700" cy="1087500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8081" dist="19360" dir="5400000" algn="ctr" rotWithShape="0">
                <a:srgbClr val="000000">
                  <a:alpha val="62350"/>
                </a:srgbClr>
              </a:outerShdw>
            </a:effectLst>
          </p:spPr>
          <p:txBody>
            <a:bodyPr spcFirstLastPara="1" wrap="square" lIns="92925" tIns="92925" rIns="92925" bIns="92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3"/>
                <a:buFont typeface="Arial"/>
                <a:buNone/>
              </a:pPr>
              <a:endParaRPr sz="14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-43342" y="1114814"/>
              <a:ext cx="7633500" cy="1296790"/>
            </a:xfrm>
            <a:prstGeom prst="roundRect">
              <a:avLst>
                <a:gd name="adj" fmla="val 10000"/>
              </a:avLst>
            </a:prstGeom>
            <a:solidFill>
              <a:srgbClr val="FFC067"/>
            </a:solidFill>
            <a:ln>
              <a:noFill/>
            </a:ln>
            <a:effectLst>
              <a:outerShdw blurRad="58081" dist="19360" dir="5400000" algn="ctr" rotWithShape="0">
                <a:srgbClr val="000000">
                  <a:alpha val="62350"/>
                </a:srgbClr>
              </a:outerShdw>
            </a:effectLst>
          </p:spPr>
          <p:txBody>
            <a:bodyPr spcFirstLastPara="1" wrap="square" lIns="92925" tIns="92925" rIns="92925" bIns="92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3"/>
                <a:buFont typeface="Arial"/>
                <a:buNone/>
              </a:pPr>
              <a:endParaRPr sz="14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19311" y="1109096"/>
              <a:ext cx="5970900" cy="1016361"/>
            </a:xfrm>
            <a:prstGeom prst="rect">
              <a:avLst/>
            </a:prstGeom>
            <a:solidFill>
              <a:srgbClr val="FFC067"/>
            </a:solidFill>
            <a:ln w="9525" cap="flat" cmpd="sng">
              <a:solidFill>
                <a:srgbClr val="FFC0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650" tIns="100650" rIns="100650" bIns="1006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42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Héctor Hidalgo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31775" marR="0" lvl="1" indent="-231775" algn="l" rtl="0">
                <a:lnSpc>
                  <a:spcPct val="90000"/>
                </a:lnSpc>
                <a:spcBef>
                  <a:spcPts val="925"/>
                </a:spcBef>
                <a:spcAft>
                  <a:spcPts val="0"/>
                </a:spcAft>
                <a:buClr>
                  <a:schemeClr val="lt1"/>
                </a:buClr>
                <a:buSzPts val="2033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</a:t>
              </a:r>
              <a:r>
                <a:rPr lang="es-CL" sz="200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Fullstack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  <a:p>
              <a:pPr marL="231775" marR="0" lvl="1" indent="-231775" algn="l" rtl="0">
                <a:lnSpc>
                  <a:spcPct val="90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lt1"/>
                </a:buClr>
                <a:buSzPts val="2033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QA</a:t>
              </a:r>
            </a:p>
            <a:p>
              <a:pPr marL="231775" marR="0" lvl="1" indent="-231775" algn="l" rtl="0">
                <a:lnSpc>
                  <a:spcPct val="90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lt1"/>
                </a:buClr>
                <a:buSzPts val="2033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Analista de datos</a:t>
              </a:r>
            </a:p>
            <a:p>
              <a:pPr marL="231775" marR="0" lvl="1" indent="-231775" algn="l" rtl="0">
                <a:lnSpc>
                  <a:spcPct val="90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lt1"/>
                </a:buClr>
                <a:buSzPts val="2033"/>
                <a:buFont typeface="Calibri"/>
                <a:buChar char="•"/>
              </a:pP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102" name="Google Shape;10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3501" y="1582367"/>
            <a:ext cx="1781694" cy="1952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3240" y="4311219"/>
            <a:ext cx="1776925" cy="1731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7472C53-2263-ACBF-E95A-47BEA1C4B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017" y="413657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89650" y="2169775"/>
            <a:ext cx="4652700" cy="4542300"/>
          </a:xfrm>
          <a:prstGeom prst="roundRect">
            <a:avLst>
              <a:gd name="adj" fmla="val 10901"/>
            </a:avLst>
          </a:prstGeom>
          <a:solidFill>
            <a:schemeClr val="accent1"/>
          </a:solidFill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Comunidad - Iconos gratis de soci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1688" y="3418749"/>
            <a:ext cx="2995700" cy="29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5634275" y="2745725"/>
            <a:ext cx="5718000" cy="3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baja visibilidad de las Pequeñas y Medianas Empresas (PYMES) y la falta de canales efectivos para la comunicación comunitaria y el reporte de incidentes de seguridad/vial en el ámbito local.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77B3DC3-A94A-4D87-86A1-A9A1C6ACF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017" y="413657"/>
            <a:ext cx="3012623" cy="8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3897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834e52cc3_2_10"/>
          <p:cNvSpPr txBox="1">
            <a:spLocks noGrp="1"/>
          </p:cNvSpPr>
          <p:nvPr>
            <p:ph type="ctrTitle"/>
          </p:nvPr>
        </p:nvSpPr>
        <p:spPr>
          <a:xfrm>
            <a:off x="3876325" y="1127768"/>
            <a:ext cx="4085400" cy="1037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/>
              <a:t>Resultados</a:t>
            </a:r>
            <a:endParaRPr sz="3600"/>
          </a:p>
        </p:txBody>
      </p:sp>
      <p:sp>
        <p:nvSpPr>
          <p:cNvPr id="120" name="Google Shape;120;g3a834e52cc3_2_10"/>
          <p:cNvSpPr txBox="1">
            <a:spLocks noGrp="1"/>
          </p:cNvSpPr>
          <p:nvPr>
            <p:ph type="subTitle" idx="1"/>
          </p:nvPr>
        </p:nvSpPr>
        <p:spPr>
          <a:xfrm>
            <a:off x="1524000" y="2378031"/>
            <a:ext cx="9144000" cy="190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800"/>
              <a:t>Muchas PYMES locales no tienen presencia digital o la tienen fragmentada, lo que dificulta a los vecinos encontrar sus servicios. Además, la coordinación en seguridad comunitaria es ineficiente por la ausencia de una plataforma unificada.</a:t>
            </a:r>
            <a:endParaRPr sz="2800"/>
          </a:p>
        </p:txBody>
      </p:sp>
      <p:pic>
        <p:nvPicPr>
          <p:cNvPr id="121" name="Google Shape;121;g3a834e52cc3_2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5788" y="4652275"/>
            <a:ext cx="1666982" cy="167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a834e52cc3_2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8050" y="4652275"/>
            <a:ext cx="1673650" cy="167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a834e52cc3_2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6200" y="4886101"/>
            <a:ext cx="1625650" cy="16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988C3F9-FDA4-0B84-DCCA-401D9306D0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017" y="413657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B9205-FBB0-67A8-7F72-3CAFBF467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292" y="194457"/>
            <a:ext cx="4561354" cy="1527268"/>
          </a:xfrm>
        </p:spPr>
        <p:txBody>
          <a:bodyPr>
            <a:normAutofit/>
          </a:bodyPr>
          <a:lstStyle/>
          <a:p>
            <a:r>
              <a:rPr lang="es-ES" sz="3200" b="1" dirty="0"/>
              <a:t>Propuesta</a:t>
            </a:r>
          </a:p>
        </p:txBody>
      </p:sp>
      <p:pic>
        <p:nvPicPr>
          <p:cNvPr id="6" name="Marcador de contenido 5" descr="a76506e2-99f5-4a5f-a324-e3cdb1210d39 (1).png">
            <a:extLst>
              <a:ext uri="{FF2B5EF4-FFF2-40B4-BE49-F238E27FC236}">
                <a16:creationId xmlns:a16="http://schemas.microsoft.com/office/drawing/2014/main" id="{57AEA351-6EF1-53A4-9ED5-2DF332802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52848" y="1176058"/>
            <a:ext cx="3168980" cy="5007068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E9BC77-68BE-B391-CA7B-56E593877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noProof="0" smtClean="0"/>
              <a:t>5</a:t>
            </a:fld>
            <a:endParaRPr lang="es-ES" noProof="0"/>
          </a:p>
        </p:txBody>
      </p:sp>
      <p:pic>
        <p:nvPicPr>
          <p:cNvPr id="8" name="Google Shape;136;g3a834e52cc3_1_13">
            <a:extLst>
              <a:ext uri="{FF2B5EF4-FFF2-40B4-BE49-F238E27FC236}">
                <a16:creationId xmlns:a16="http://schemas.microsoft.com/office/drawing/2014/main" id="{FBD16B94-F47F-26A1-DFF9-A906EB1810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447" y="2378694"/>
            <a:ext cx="2286572" cy="2120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37;g3a834e52cc3_1_13">
            <a:extLst>
              <a:ext uri="{FF2B5EF4-FFF2-40B4-BE49-F238E27FC236}">
                <a16:creationId xmlns:a16="http://schemas.microsoft.com/office/drawing/2014/main" id="{0E211DD4-A22F-9B0B-8ECB-E228CA20681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3326" y="2504702"/>
            <a:ext cx="2079755" cy="19914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5858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834e52cc3_1_13"/>
          <p:cNvSpPr/>
          <p:nvPr/>
        </p:nvSpPr>
        <p:spPr>
          <a:xfrm>
            <a:off x="489650" y="2137075"/>
            <a:ext cx="4899900" cy="4575000"/>
          </a:xfrm>
          <a:prstGeom prst="roundRect">
            <a:avLst>
              <a:gd name="adj" fmla="val 10901"/>
            </a:avLst>
          </a:prstGeom>
          <a:solidFill>
            <a:schemeClr val="accent1"/>
          </a:solidFill>
          <a:ln w="1270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</a:t>
            </a: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puesta de solución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JobSy, una plataforma web desarrollada en Django que centraliza la oferta de servicios de las PYMES, geolocaliza estos negocios y servicios comunitarios, y fomenta la participación de los vecinos a través de notificaciones informativas y eventos de seguridad.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a834e52cc3_1_13"/>
          <p:cNvSpPr txBox="1"/>
          <p:nvPr/>
        </p:nvSpPr>
        <p:spPr>
          <a:xfrm>
            <a:off x="0" y="1143000"/>
            <a:ext cx="1219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g3a834e52cc3_1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8311" y="2142435"/>
            <a:ext cx="2132975" cy="192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a834e52cc3_1_13"/>
          <p:cNvSpPr txBox="1"/>
          <p:nvPr/>
        </p:nvSpPr>
        <p:spPr>
          <a:xfrm>
            <a:off x="5726050" y="3802425"/>
            <a:ext cx="2872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Clasificación de Emprendimiento</a:t>
            </a:r>
            <a:endParaRPr sz="1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g3a834e52cc3_1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3175" y="2008088"/>
            <a:ext cx="1668138" cy="166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a834e52cc3_1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1325" y="4415225"/>
            <a:ext cx="2046625" cy="204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a834e52cc3_1_13"/>
          <p:cNvSpPr txBox="1"/>
          <p:nvPr/>
        </p:nvSpPr>
        <p:spPr>
          <a:xfrm>
            <a:off x="8239838" y="6461850"/>
            <a:ext cx="15981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Comunidad</a:t>
            </a:r>
            <a:endParaRPr sz="1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6C4A55-5DAD-A5F7-8E25-BABAE0EBF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017" y="424543"/>
            <a:ext cx="3012623" cy="8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8961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834e52cc3_2_19"/>
          <p:cNvSpPr txBox="1">
            <a:spLocks noGrp="1"/>
          </p:cNvSpPr>
          <p:nvPr>
            <p:ph type="ctrTitle"/>
          </p:nvPr>
        </p:nvSpPr>
        <p:spPr>
          <a:xfrm>
            <a:off x="3573150" y="500700"/>
            <a:ext cx="5045700" cy="1019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/>
              <a:t>Propuesta</a:t>
            </a:r>
            <a:endParaRPr sz="3600"/>
          </a:p>
        </p:txBody>
      </p:sp>
      <p:sp>
        <p:nvSpPr>
          <p:cNvPr id="144" name="Google Shape;144;g3a834e52cc3_2_19"/>
          <p:cNvSpPr txBox="1">
            <a:spLocks noGrp="1"/>
          </p:cNvSpPr>
          <p:nvPr>
            <p:ph type="subTitle" idx="1"/>
          </p:nvPr>
        </p:nvSpPr>
        <p:spPr>
          <a:xfrm>
            <a:off x="280550" y="1714629"/>
            <a:ext cx="3943412" cy="4665599"/>
          </a:xfrm>
          <a:prstGeom prst="rect">
            <a:avLst/>
          </a:prstGeom>
          <a:solidFill>
            <a:schemeClr val="accent1"/>
          </a:solidFill>
          <a:ln>
            <a:solidFill>
              <a:srgbClr val="FFC000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400"/>
              <a:t>Beneficios</a:t>
            </a:r>
            <a:endParaRPr lang="es-ES"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s-CL" sz="2400"/>
              <a:t>Visibilidad Comunitaria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CL" sz="2400"/>
              <a:t>Publicidad 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CL" sz="2400"/>
              <a:t>Aumento de Ventas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CL" sz="2400"/>
              <a:t>Mayor seguridad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CL" sz="2400"/>
              <a:t>Disponibilidad de eventos</a:t>
            </a:r>
            <a:endParaRPr sz="2400"/>
          </a:p>
        </p:txBody>
      </p:sp>
      <p:pic>
        <p:nvPicPr>
          <p:cNvPr id="145" name="Google Shape;145;g3a834e52cc3_2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1300" y="1567301"/>
            <a:ext cx="7830599" cy="504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a834e52cc3_2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7575" y="4091282"/>
            <a:ext cx="1345475" cy="234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1F38480-60FA-5628-5634-3C3B7A1CD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017" y="413657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834e52cc3_1_29"/>
          <p:cNvSpPr txBox="1"/>
          <p:nvPr/>
        </p:nvSpPr>
        <p:spPr>
          <a:xfrm>
            <a:off x="0" y="1163252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a834e52cc3_1_29"/>
          <p:cNvSpPr txBox="1"/>
          <p:nvPr/>
        </p:nvSpPr>
        <p:spPr>
          <a:xfrm>
            <a:off x="286453" y="3391131"/>
            <a:ext cx="926205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a834e52cc3_1_29"/>
          <p:cNvSpPr/>
          <p:nvPr/>
        </p:nvSpPr>
        <p:spPr>
          <a:xfrm>
            <a:off x="489650" y="1980125"/>
            <a:ext cx="11424000" cy="1167300"/>
          </a:xfrm>
          <a:prstGeom prst="roundRect">
            <a:avLst>
              <a:gd name="adj" fmla="val 10901"/>
            </a:avLst>
          </a:prstGeom>
          <a:solidFill>
            <a:schemeClr val="accent1"/>
          </a:solidFill>
          <a:ln w="1270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Impulsar el alcance y visibilidad de las pequeñas y medianas empresas locales, generando un punto de encuentro digital que favorezca al comercio y promueva lazos entre la misma comunidad de vecinos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a834e52cc3_1_29"/>
          <p:cNvSpPr/>
          <p:nvPr/>
        </p:nvSpPr>
        <p:spPr>
          <a:xfrm>
            <a:off x="489650" y="4123793"/>
            <a:ext cx="9267300" cy="2525999"/>
          </a:xfrm>
          <a:prstGeom prst="roundRect">
            <a:avLst>
              <a:gd name="adj" fmla="val 10901"/>
            </a:avLst>
          </a:prstGeom>
          <a:solidFill>
            <a:schemeClr val="accent1"/>
          </a:solidFill>
          <a:ln w="1270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342900" algn="ctr"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y mantener activos a una cifra importante de Pymes y proveedores servicios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locales, demostrando la predominancia de la plataforma en el medio local.</a:t>
            </a:r>
            <a:endParaRPr lang="es-ES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14300" algn="ctr">
              <a:buClr>
                <a:srgbClr val="000000"/>
              </a:buClr>
              <a:buSzPts val="1800"/>
            </a:pPr>
            <a:endParaRPr lang="es-CL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342900" algn="ctr" rtl="0"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Fomentar la participación activa de nuestra comunidad, lograr alcanzar durante el primer mes de uso una media de 500 interacciones en el mapa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14300" algn="ctr">
              <a:buClr>
                <a:srgbClr val="000000"/>
              </a:buClr>
              <a:buSzPts val="1800"/>
            </a:pPr>
            <a:endParaRPr lang="es-CL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342900" algn="ctr" rtl="0"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Demostrar la efectividad que dispone el sistema para que nuestros vecinos puedan encontrar sus productos en tiempos reducidos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g3a834e52cc3_1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5850" y="4745490"/>
            <a:ext cx="1807710" cy="1807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CEBA460-208D-87E9-45C6-6AFB31A4A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017" y="413657"/>
            <a:ext cx="3012623" cy="8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87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/>
        </p:nvSpPr>
        <p:spPr>
          <a:xfrm>
            <a:off x="0" y="12502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38"/>
                <a:ea typeface="Calibri"/>
                <a:cs typeface="Calibri"/>
                <a:sym typeface="Calibri"/>
              </a:rPr>
              <a:t>Alcances y limitaciones del proyecto</a:t>
            </a:r>
            <a:endParaRPr lang="es-ES" sz="1400" b="0" i="0" u="none" strike="noStrike" cap="none">
              <a:solidFill>
                <a:schemeClr val="dk1"/>
              </a:solidFill>
              <a:latin typeface="38"/>
              <a:ea typeface="Arial"/>
              <a:cs typeface="Arial"/>
            </a:endParaRPr>
          </a:p>
        </p:txBody>
      </p:sp>
      <p:pic>
        <p:nvPicPr>
          <p:cNvPr id="163" name="Google Shape;16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31386"/>
            <a:ext cx="11887200" cy="4344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148A08F-8F79-96A8-3F19-E222A6B3D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/>
        </p:nvSpPr>
        <p:spPr>
          <a:xfrm>
            <a:off x="-10886" y="124327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6243011" y="3884756"/>
            <a:ext cx="5526000" cy="2698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Permitió la adaptación rápida a los cambios en los requisitos del mapa y del módulo de seguridad</a:t>
            </a:r>
            <a:endParaRPr lang="es-ES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Aseguró la entrega de un producto funcional al final de cada fase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2408" y="1900662"/>
            <a:ext cx="2924955" cy="19840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Google Shape;153;g3a834e52cc3_1_29">
            <a:extLst>
              <a:ext uri="{FF2B5EF4-FFF2-40B4-BE49-F238E27FC236}">
                <a16:creationId xmlns:a16="http://schemas.microsoft.com/office/drawing/2014/main" id="{566D99D8-5F77-4AFA-BB3E-FDD5C44FDE39}"/>
              </a:ext>
            </a:extLst>
          </p:cNvPr>
          <p:cNvSpPr/>
          <p:nvPr/>
        </p:nvSpPr>
        <p:spPr>
          <a:xfrm>
            <a:off x="435221" y="2710028"/>
            <a:ext cx="4667721" cy="2258197"/>
          </a:xfrm>
          <a:prstGeom prst="roundRect">
            <a:avLst>
              <a:gd name="adj" fmla="val 10901"/>
            </a:avLst>
          </a:prstGeom>
          <a:solidFill>
            <a:schemeClr val="accent1"/>
          </a:solidFill>
          <a:ln w="1270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>
              <a:lnSpc>
                <a:spcPts val="2025"/>
              </a:lnSpc>
            </a:pPr>
            <a:r>
              <a:rPr lang="es-CL" sz="2400" baseline="0">
                <a:latin typeface="Calibri"/>
                <a:ea typeface="Segoe UI"/>
                <a:cs typeface="Segoe UI"/>
              </a:rPr>
              <a:t>Metodología Ágil Scrum</a:t>
            </a:r>
            <a:r>
              <a:rPr lang="es-ES" sz="2400">
                <a:latin typeface="Calibri"/>
                <a:ea typeface="Segoe UI"/>
                <a:cs typeface="Segoe UI"/>
              </a:rPr>
              <a:t>​</a:t>
            </a:r>
          </a:p>
          <a:p>
            <a:pPr rtl="0">
              <a:lnSpc>
                <a:spcPts val="2400"/>
              </a:lnSpc>
            </a:pPr>
            <a:r>
              <a:rPr lang="en-US" sz="2800">
                <a:latin typeface="Calibri"/>
                <a:ea typeface="Segoe UI"/>
                <a:cs typeface="Segoe UI"/>
              </a:rPr>
              <a:t>​</a:t>
            </a:r>
          </a:p>
          <a:p>
            <a:pPr marL="457200" lvl="0" indent="-406400" rtl="0">
              <a:lnSpc>
                <a:spcPts val="2025"/>
              </a:lnSpc>
              <a:buFont typeface="Calibri,Sans-Serif"/>
              <a:buChar char="●"/>
            </a:pPr>
            <a:r>
              <a:rPr lang="es-CL" sz="2400" baseline="0">
                <a:latin typeface="Calibri"/>
                <a:ea typeface="Arial"/>
                <a:cs typeface="Arial"/>
              </a:rPr>
              <a:t>4 Sprint</a:t>
            </a:r>
            <a:r>
              <a:rPr lang="en-US" sz="2400">
                <a:latin typeface="Calibri"/>
                <a:ea typeface="Arial"/>
                <a:cs typeface="Arial"/>
              </a:rPr>
              <a:t>​</a:t>
            </a:r>
          </a:p>
          <a:p>
            <a:pPr marL="914400" lvl="1" indent="-406400" rtl="0">
              <a:lnSpc>
                <a:spcPts val="2025"/>
              </a:lnSpc>
              <a:buFont typeface="Calibri,Sans-Serif"/>
              <a:buChar char="○"/>
            </a:pPr>
            <a:r>
              <a:rPr lang="es-CL" sz="2400" baseline="0">
                <a:latin typeface="Calibri"/>
                <a:ea typeface="Arial"/>
                <a:cs typeface="Arial"/>
              </a:rPr>
              <a:t>Base Técnica y Registro</a:t>
            </a:r>
            <a:r>
              <a:rPr lang="en-US" sz="2400">
                <a:latin typeface="Calibri"/>
                <a:ea typeface="Arial"/>
                <a:cs typeface="Arial"/>
              </a:rPr>
              <a:t>​</a:t>
            </a:r>
          </a:p>
          <a:p>
            <a:pPr marL="914400" lvl="1" indent="-406400" rtl="0">
              <a:lnSpc>
                <a:spcPts val="2025"/>
              </a:lnSpc>
              <a:buFont typeface="Calibri,Sans-Serif"/>
              <a:buChar char="○"/>
            </a:pPr>
            <a:r>
              <a:rPr lang="es-CL" sz="2400" baseline="0">
                <a:latin typeface="Calibri"/>
                <a:ea typeface="Arial"/>
                <a:cs typeface="Arial"/>
              </a:rPr>
              <a:t>Reporte Mínimo y Mapa </a:t>
            </a:r>
            <a:r>
              <a:rPr lang="en-US" sz="2400">
                <a:latin typeface="Calibri"/>
                <a:ea typeface="Arial"/>
                <a:cs typeface="Arial"/>
              </a:rPr>
              <a:t>​</a:t>
            </a:r>
          </a:p>
          <a:p>
            <a:pPr marL="914400" lvl="1" indent="-406400" rtl="0">
              <a:lnSpc>
                <a:spcPts val="2025"/>
              </a:lnSpc>
              <a:buFont typeface="Calibri,Sans-Serif"/>
              <a:buChar char="○"/>
            </a:pPr>
            <a:r>
              <a:rPr lang="es-CL" sz="2400" baseline="0">
                <a:latin typeface="Calibri"/>
                <a:ea typeface="Arial"/>
                <a:cs typeface="Arial"/>
              </a:rPr>
              <a:t>Usabilidad y Comercios</a:t>
            </a:r>
            <a:r>
              <a:rPr lang="en-US" sz="2400">
                <a:latin typeface="Calibri"/>
                <a:ea typeface="Arial"/>
                <a:cs typeface="Arial"/>
              </a:rPr>
              <a:t>​</a:t>
            </a:r>
          </a:p>
          <a:p>
            <a:pPr marL="914400" lvl="1" indent="-406400">
              <a:lnSpc>
                <a:spcPts val="2025"/>
              </a:lnSpc>
              <a:buFont typeface="Calibri,Sans-Serif"/>
              <a:buChar char="○"/>
            </a:pPr>
            <a:r>
              <a:rPr lang="es-CL" sz="2400" baseline="0">
                <a:latin typeface="Calibri"/>
                <a:ea typeface="Arial"/>
                <a:cs typeface="Arial"/>
              </a:rPr>
              <a:t>Estabilidad y Lanzamiento</a:t>
            </a:r>
            <a:r>
              <a:rPr lang="es-CL" sz="2400">
                <a:latin typeface="Calibri"/>
                <a:ea typeface="Arial"/>
                <a:cs typeface="Arial"/>
              </a:rPr>
              <a:t> </a:t>
            </a:r>
            <a:endParaRPr lang="en-US" sz="2400">
              <a:latin typeface="Calibri"/>
              <a:ea typeface="Calibri"/>
              <a:cs typeface="Arial"/>
            </a:endParaRPr>
          </a:p>
          <a:p>
            <a:pPr rtl="0">
              <a:lnSpc>
                <a:spcPts val="2400"/>
              </a:lnSpc>
            </a:pPr>
            <a:r>
              <a:rPr lang="en-US" sz="2800">
                <a:latin typeface="Calibri"/>
                <a:ea typeface="Segoe UI"/>
                <a:cs typeface="Segoe UI"/>
              </a:rPr>
              <a:t>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ABEEE1-14D0-D00C-22CC-65C28E0B9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/>
          <p:nvPr/>
        </p:nvSpPr>
        <p:spPr>
          <a:xfrm>
            <a:off x="1" y="1078352"/>
            <a:ext cx="1219199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lang="es-ES" sz="1000" b="0" i="0" u="none" strike="noStrike" cap="non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62A5062-1AAD-E267-7851-56AFD731A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  <p:pic>
        <p:nvPicPr>
          <p:cNvPr id="2" name="Imagen 1" descr="Tabla&#10;&#10;El contenido generado por IA puede ser incorrecto.">
            <a:extLst>
              <a:ext uri="{FF2B5EF4-FFF2-40B4-BE49-F238E27FC236}">
                <a16:creationId xmlns:a16="http://schemas.microsoft.com/office/drawing/2014/main" id="{6F1430F6-19E4-AA58-FAB4-79089B607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1935991"/>
            <a:ext cx="11963400" cy="4752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DB7E4188-5C75-EA49-3742-957005DE2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>
            <a:extLst>
              <a:ext uri="{FF2B5EF4-FFF2-40B4-BE49-F238E27FC236}">
                <a16:creationId xmlns:a16="http://schemas.microsoft.com/office/drawing/2014/main" id="{BDB8FEB3-8EA9-E465-D36E-9835B074455F}"/>
              </a:ext>
            </a:extLst>
          </p:cNvPr>
          <p:cNvSpPr txBox="1"/>
          <p:nvPr/>
        </p:nvSpPr>
        <p:spPr>
          <a:xfrm>
            <a:off x="-1120587" y="450823"/>
            <a:ext cx="1219199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Desglose de proyecto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F83568-738B-BB1C-672C-B9A35C6AC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8E9DCA1-8DA6-8B52-F4BC-BF7134550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07" y="1428750"/>
            <a:ext cx="10627691" cy="543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6972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 Jo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bSy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2" name="Google Shape;192;p8"/>
          <p:cNvPicPr preferRelativeResize="0"/>
          <p:nvPr/>
        </p:nvPicPr>
        <p:blipFill>
          <a:blip r:embed="rId3">
            <a:alphaModFix/>
          </a:blip>
          <a:srcRect l="3469" r="-302" b="-524"/>
          <a:stretch>
            <a:fillRect/>
          </a:stretch>
        </p:blipFill>
        <p:spPr>
          <a:xfrm>
            <a:off x="2042748" y="2396803"/>
            <a:ext cx="8299596" cy="4126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8255397-3863-94D7-33EC-2443B24A2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 txBox="1"/>
          <p:nvPr/>
        </p:nvSpPr>
        <p:spPr>
          <a:xfrm>
            <a:off x="44900" y="7580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00" name="Google Shape;20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171" y="1535574"/>
            <a:ext cx="11013552" cy="51591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B91B4C9-1C8F-6276-D52A-5F6074194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 txBox="1"/>
          <p:nvPr/>
        </p:nvSpPr>
        <p:spPr>
          <a:xfrm>
            <a:off x="0" y="9204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C8072C4-F6B7-8A01-E858-7DD210AF3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8BAF3E00-7850-6D0A-4C1D-28DB9CFDF800}"/>
              </a:ext>
            </a:extLst>
          </p:cNvPr>
          <p:cNvSpPr/>
          <p:nvPr/>
        </p:nvSpPr>
        <p:spPr>
          <a:xfrm flipH="1">
            <a:off x="279695" y="1566955"/>
            <a:ext cx="3691071" cy="5006086"/>
          </a:xfrm>
          <a:prstGeom prst="snip1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AEFA6B9-8959-47E6-F830-E319814B202D}"/>
              </a:ext>
            </a:extLst>
          </p:cNvPr>
          <p:cNvSpPr/>
          <p:nvPr/>
        </p:nvSpPr>
        <p:spPr>
          <a:xfrm>
            <a:off x="8077724" y="1566955"/>
            <a:ext cx="3834580" cy="5006086"/>
          </a:xfrm>
          <a:prstGeom prst="snip1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125993-4E3A-2531-9553-3A7E1DCC9DD8}"/>
              </a:ext>
            </a:extLst>
          </p:cNvPr>
          <p:cNvSpPr/>
          <p:nvPr/>
        </p:nvSpPr>
        <p:spPr>
          <a:xfrm>
            <a:off x="4229334" y="1566955"/>
            <a:ext cx="3589822" cy="5006086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1412CA-5D5A-120C-1562-D81F22A90098}"/>
              </a:ext>
            </a:extLst>
          </p:cNvPr>
          <p:cNvSpPr txBox="1"/>
          <p:nvPr/>
        </p:nvSpPr>
        <p:spPr>
          <a:xfrm>
            <a:off x="670056" y="1566955"/>
            <a:ext cx="291034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L" b="1"/>
              <a:t>Frontend</a:t>
            </a:r>
            <a:endParaRPr lang="en-US" b="1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7EFDD1A1-2DC6-91C3-7C4A-774BFEFC0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807" y="1936287"/>
            <a:ext cx="238084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estilos.css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index.css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(Vanilla)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8ABCBF-B4CC-A5CA-0FA2-A640EA487337}"/>
              </a:ext>
            </a:extLst>
          </p:cNvPr>
          <p:cNvSpPr txBox="1"/>
          <p:nvPr/>
        </p:nvSpPr>
        <p:spPr>
          <a:xfrm>
            <a:off x="470963" y="3766813"/>
            <a:ext cx="3317862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/>
              <a:t>Fetch API (AJAX) para consumir endpoints JSON </a:t>
            </a:r>
            <a:r>
              <a:rPr lang="en-US" err="1"/>
              <a:t>Modales</a:t>
            </a:r>
            <a:r>
              <a:rPr lang="en-US"/>
              <a:t> </a:t>
            </a:r>
            <a:r>
              <a:rPr lang="en-US" err="1"/>
              <a:t>personalizados</a:t>
            </a:r>
            <a:r>
              <a:rPr lang="en-US"/>
              <a:t> (JS + CSS) </a:t>
            </a:r>
            <a:r>
              <a:rPr lang="en-US" err="1"/>
              <a:t>Validación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frontend (inputs y </a:t>
            </a:r>
            <a:r>
              <a:rPr lang="en-US" err="1"/>
              <a:t>filtros</a:t>
            </a:r>
            <a:r>
              <a:rPr lang="en-US"/>
              <a:t>) </a:t>
            </a:r>
            <a:r>
              <a:rPr lang="en-US" err="1"/>
              <a:t>Geolocalización</a:t>
            </a:r>
            <a:r>
              <a:rPr lang="en-US"/>
              <a:t> del </a:t>
            </a:r>
            <a:r>
              <a:rPr lang="en-US" err="1"/>
              <a:t>navegador</a:t>
            </a:r>
            <a:r>
              <a:rPr lang="en-US"/>
              <a:t> (</a:t>
            </a:r>
            <a:r>
              <a:rPr lang="en-US" err="1"/>
              <a:t>navigator.geolocation</a:t>
            </a:r>
            <a:r>
              <a:rPr lang="en-US"/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7411CC-766F-ED23-AE0C-CE6EE4AE9474}"/>
              </a:ext>
            </a:extLst>
          </p:cNvPr>
          <p:cNvSpPr txBox="1"/>
          <p:nvPr/>
        </p:nvSpPr>
        <p:spPr>
          <a:xfrm>
            <a:off x="4836999" y="1947818"/>
            <a:ext cx="2517999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/>
              <a:t>Lenguaje y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Python 3.12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Django 4.0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980BB1-671E-3C7A-B854-140BA6F66B00}"/>
              </a:ext>
            </a:extLst>
          </p:cNvPr>
          <p:cNvSpPr txBox="1"/>
          <p:nvPr/>
        </p:nvSpPr>
        <p:spPr>
          <a:xfrm>
            <a:off x="4599808" y="1568434"/>
            <a:ext cx="291034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L" b="1"/>
              <a:t>Backend</a:t>
            </a:r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C73484-8C8A-C1C3-D71B-F01D4DD92F9A}"/>
              </a:ext>
            </a:extLst>
          </p:cNvPr>
          <p:cNvSpPr txBox="1"/>
          <p:nvPr/>
        </p:nvSpPr>
        <p:spPr>
          <a:xfrm>
            <a:off x="8413982" y="1566955"/>
            <a:ext cx="291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/>
              <a:t>Seguridad</a:t>
            </a:r>
            <a:endParaRPr lang="en-US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038A0B-ADF6-17B7-30EF-C15AAD314AB9}"/>
              </a:ext>
            </a:extLst>
          </p:cNvPr>
          <p:cNvSpPr txBox="1"/>
          <p:nvPr/>
        </p:nvSpPr>
        <p:spPr>
          <a:xfrm>
            <a:off x="8426821" y="2010481"/>
            <a:ext cx="315249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PostgreSQL (Neon Database Cloud)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Conexión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SSL 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obligatoria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CSRF Protection (token)</a:t>
            </a:r>
          </a:p>
          <a:p>
            <a:r>
              <a:rPr lang="en-US" sz="1400" b="1" err="1">
                <a:latin typeface="Arial" panose="020B0604020202020204" pitchFamily="34" charset="0"/>
                <a:cs typeface="Arial" panose="020B0604020202020204" pitchFamily="34" charset="0"/>
              </a:rPr>
              <a:t>Protecciones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 Django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XSS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Inyección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Clickjacking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Escapado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automático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de templates</a:t>
            </a:r>
          </a:p>
          <a:p>
            <a:r>
              <a:rPr lang="en-US" sz="1400" b="1" err="1">
                <a:latin typeface="Arial" panose="020B0604020202020204" pitchFamily="34" charset="0"/>
                <a:cs typeface="Arial" panose="020B0604020202020204" pitchFamily="34" charset="0"/>
              </a:rPr>
              <a:t>Restricción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usuarios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comunes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emprendedores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staff (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administración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Psycopg2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Driver PostgreSQL para Django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Conexiones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seguras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vía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URI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Modo pooler de Neon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FDF8A7-DE47-5D7B-69EC-164A61C0C1FF}"/>
              </a:ext>
            </a:extLst>
          </p:cNvPr>
          <p:cNvSpPr txBox="1"/>
          <p:nvPr/>
        </p:nvSpPr>
        <p:spPr>
          <a:xfrm>
            <a:off x="4260071" y="3018160"/>
            <a:ext cx="3589822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Arial"/>
                <a:cs typeface="Arial"/>
              </a:rPr>
              <a:t>Módulos Django: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 panose="020B0604020202020204" pitchFamily="34" charset="0"/>
                <a:cs typeface="Arial" panose="020B0604020202020204" pitchFamily="34" charset="0"/>
              </a:rPr>
              <a:t>django.urls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 panose="020B0604020202020204" pitchFamily="34" charset="0"/>
                <a:cs typeface="Arial" panose="020B0604020202020204" pitchFamily="34" charset="0"/>
              </a:rPr>
              <a:t>django.shortcuts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/>
                <a:cs typeface="Arial"/>
              </a:rPr>
              <a:t>django.db.models</a:t>
            </a:r>
            <a:r>
              <a:rPr lang="en-US" altLang="en-US" sz="1400">
                <a:latin typeface="Arial"/>
                <a:cs typeface="Arial"/>
              </a:rPr>
              <a:t> (Q, Prefetch, Avg)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 panose="020B0604020202020204" pitchFamily="34" charset="0"/>
                <a:cs typeface="Arial" panose="020B0604020202020204" pitchFamily="34" charset="0"/>
              </a:rPr>
              <a:t>django.contrib.auth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 panose="020B0604020202020204" pitchFamily="34" charset="0"/>
                <a:cs typeface="Arial" panose="020B0604020202020204" pitchFamily="34" charset="0"/>
              </a:rPr>
              <a:t>django.middleware.security.SecurityMiddleware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/>
                <a:cs typeface="Arial"/>
              </a:rPr>
              <a:t>django.core.files.storage</a:t>
            </a:r>
            <a:r>
              <a:rPr lang="en-US" altLang="en-US" sz="1400">
                <a:latin typeface="Arial"/>
                <a:cs typeface="Arial"/>
              </a:rPr>
              <a:t> (para </a:t>
            </a:r>
            <a:r>
              <a:rPr lang="en-US" altLang="en-US" sz="1400" err="1">
                <a:latin typeface="Arial"/>
                <a:cs typeface="Arial"/>
              </a:rPr>
              <a:t>imágenes</a:t>
            </a:r>
            <a:r>
              <a:rPr lang="en-US" altLang="en-US" sz="1400">
                <a:latin typeface="Arial"/>
                <a:cs typeface="Arial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 panose="020B0604020202020204" pitchFamily="34" charset="0"/>
                <a:cs typeface="Arial" panose="020B0604020202020204" pitchFamily="34" charset="0"/>
              </a:rPr>
              <a:t>django.views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err="1">
                <a:latin typeface="Arial"/>
                <a:cs typeface="Arial"/>
              </a:rPr>
              <a:t>Librerias</a:t>
            </a:r>
            <a:r>
              <a:rPr lang="en-US" altLang="en-US" sz="1400" b="1">
                <a:latin typeface="Arial"/>
                <a:cs typeface="Arial"/>
              </a:rPr>
              <a:t> </a:t>
            </a:r>
            <a:r>
              <a:rPr lang="en-US" altLang="en-US" sz="1400" b="1" err="1">
                <a:latin typeface="Arial"/>
                <a:cs typeface="Arial"/>
              </a:rPr>
              <a:t>Usadas</a:t>
            </a:r>
            <a:r>
              <a:rPr lang="en-US" altLang="en-US" sz="1400" b="1">
                <a:latin typeface="Arial"/>
                <a:cs typeface="Arial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>
                <a:latin typeface="Arial"/>
                <a:cs typeface="Arial"/>
              </a:rPr>
              <a:t>datetime (date, </a:t>
            </a:r>
            <a:r>
              <a:rPr lang="en-US" altLang="en-US" sz="1400" err="1">
                <a:latin typeface="Arial"/>
                <a:cs typeface="Arial"/>
              </a:rPr>
              <a:t>timedelta</a:t>
            </a:r>
            <a:r>
              <a:rPr lang="en-US" altLang="en-US" sz="1400">
                <a:latin typeface="Arial"/>
                <a:cs typeface="Arial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/>
                <a:cs typeface="Arial"/>
              </a:rPr>
              <a:t>json</a:t>
            </a:r>
            <a:r>
              <a:rPr lang="en-US" altLang="en-US" sz="1400">
                <a:latin typeface="Arial"/>
                <a:cs typeface="Arial"/>
              </a:rPr>
              <a:t> (</a:t>
            </a:r>
            <a:r>
              <a:rPr lang="en-US" altLang="en-US" sz="1400" err="1">
                <a:latin typeface="Arial"/>
                <a:cs typeface="Arial"/>
              </a:rPr>
              <a:t>manejo</a:t>
            </a:r>
            <a:r>
              <a:rPr lang="en-US" altLang="en-US" sz="1400">
                <a:latin typeface="Arial"/>
                <a:cs typeface="Arial"/>
              </a:rPr>
              <a:t> </a:t>
            </a:r>
            <a:r>
              <a:rPr lang="en-US" altLang="en-US" sz="1400" err="1">
                <a:latin typeface="Arial"/>
                <a:cs typeface="Arial"/>
              </a:rPr>
              <a:t>polígono</a:t>
            </a:r>
            <a:r>
              <a:rPr lang="en-US" altLang="en-US" sz="1400">
                <a:latin typeface="Arial"/>
                <a:cs typeface="Arial"/>
              </a:rPr>
              <a:t> </a:t>
            </a:r>
            <a:r>
              <a:rPr lang="en-US" altLang="en-US" sz="1400" err="1">
                <a:latin typeface="Arial"/>
                <a:cs typeface="Arial"/>
              </a:rPr>
              <a:t>sectores</a:t>
            </a:r>
            <a:r>
              <a:rPr lang="en-US" altLang="en-US" sz="1400">
                <a:latin typeface="Arial"/>
                <a:cs typeface="Arial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/>
                <a:cs typeface="Arial"/>
              </a:rPr>
              <a:t>pathlib</a:t>
            </a:r>
            <a:r>
              <a:rPr lang="en-US" altLang="en-US" sz="1400">
                <a:latin typeface="Arial"/>
                <a:cs typeface="Arial"/>
              </a:rPr>
              <a:t> (</a:t>
            </a:r>
            <a:r>
              <a:rPr lang="en-US" altLang="en-US" sz="1400" err="1">
                <a:latin typeface="Arial"/>
                <a:cs typeface="Arial"/>
              </a:rPr>
              <a:t>rutas</a:t>
            </a:r>
            <a:r>
              <a:rPr lang="en-US" altLang="en-US" sz="1400">
                <a:latin typeface="Arial"/>
                <a:cs typeface="Arial"/>
              </a:rPr>
              <a:t> </a:t>
            </a:r>
            <a:r>
              <a:rPr lang="en-US" altLang="en-US" sz="1400" err="1">
                <a:latin typeface="Arial"/>
                <a:cs typeface="Arial"/>
              </a:rPr>
              <a:t>seguras</a:t>
            </a:r>
            <a:r>
              <a:rPr lang="en-US" altLang="en-US" sz="1400">
                <a:latin typeface="Arial"/>
                <a:cs typeface="Arial"/>
              </a:rPr>
              <a:t>)</a:t>
            </a:r>
          </a:p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381D03F5-CB00-0757-A544-DD6FAE893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>
            <a:extLst>
              <a:ext uri="{FF2B5EF4-FFF2-40B4-BE49-F238E27FC236}">
                <a16:creationId xmlns:a16="http://schemas.microsoft.com/office/drawing/2014/main" id="{0FAC4BBF-BD32-CB3B-D005-99065D01EBB3}"/>
              </a:ext>
            </a:extLst>
          </p:cNvPr>
          <p:cNvSpPr txBox="1"/>
          <p:nvPr/>
        </p:nvSpPr>
        <p:spPr>
          <a:xfrm>
            <a:off x="0" y="9204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Costos</a:t>
            </a:r>
            <a:endParaRPr lang="es-ES" dirty="0">
              <a:solidFill>
                <a:schemeClr val="dk1"/>
              </a:solidFill>
            </a:endParaRPr>
          </a:p>
        </p:txBody>
      </p:sp>
      <p:cxnSp>
        <p:nvCxnSpPr>
          <p:cNvPr id="208" name="Google Shape;208;p10">
            <a:extLst>
              <a:ext uri="{FF2B5EF4-FFF2-40B4-BE49-F238E27FC236}">
                <a16:creationId xmlns:a16="http://schemas.microsoft.com/office/drawing/2014/main" id="{7D92197E-5135-456B-966B-C5F3D6AB5DFD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1D8EF1DC-1DB7-B469-565F-99D7BFEF6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E047802E-F48E-5819-2210-1A915F246E51}"/>
              </a:ext>
            </a:extLst>
          </p:cNvPr>
          <p:cNvSpPr/>
          <p:nvPr/>
        </p:nvSpPr>
        <p:spPr>
          <a:xfrm flipH="1">
            <a:off x="279695" y="1566955"/>
            <a:ext cx="3825541" cy="5007386"/>
          </a:xfrm>
          <a:prstGeom prst="snip1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C78313-CF24-6F2E-AF90-85B8269730D5}"/>
              </a:ext>
            </a:extLst>
          </p:cNvPr>
          <p:cNvSpPr/>
          <p:nvPr/>
        </p:nvSpPr>
        <p:spPr>
          <a:xfrm>
            <a:off x="7826422" y="1566955"/>
            <a:ext cx="3589822" cy="5006086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F4E5E-2B8F-A119-8CBF-5B5766FE0317}"/>
              </a:ext>
            </a:extLst>
          </p:cNvPr>
          <p:cNvSpPr txBox="1"/>
          <p:nvPr/>
        </p:nvSpPr>
        <p:spPr>
          <a:xfrm>
            <a:off x="670056" y="1566955"/>
            <a:ext cx="291034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L" b="1" dirty="0"/>
              <a:t>Desarrollo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6076B8EF-3BEF-FFFE-9BB3-1B33510CD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025" y="2096874"/>
            <a:ext cx="309930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/>
                <a:cs typeface="Arial"/>
              </a:rPr>
              <a:t>$8.000.000 Desarrollo</a:t>
            </a:r>
            <a:endParaRPr lang="en-US" altLang="en-US" b="1" dirty="0">
              <a:latin typeface="Arial" panose="020B0604020202020204" pitchFamily="34" charset="0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  <a:buChar char="•"/>
            </a:pPr>
            <a:r>
              <a:rPr lang="en-US" altLang="en-US" b="1" dirty="0">
                <a:latin typeface="Arial"/>
                <a:cs typeface="Arial"/>
              </a:rPr>
              <a:t>$300.000 </a:t>
            </a:r>
            <a:r>
              <a:rPr lang="en-US" altLang="en-US" b="1" dirty="0" err="1">
                <a:latin typeface="Arial"/>
                <a:cs typeface="Arial"/>
              </a:rPr>
              <a:t>Mantención</a:t>
            </a:r>
            <a:r>
              <a:rPr lang="en-US" altLang="en-US" b="1" dirty="0">
                <a:latin typeface="Arial"/>
                <a:cs typeface="Arial"/>
              </a:rPr>
              <a:t> </a:t>
            </a:r>
            <a:r>
              <a:rPr lang="en-US" altLang="en-US" b="1" dirty="0" err="1">
                <a:latin typeface="Arial"/>
                <a:cs typeface="Arial"/>
              </a:rPr>
              <a:t>mensual</a:t>
            </a:r>
            <a:r>
              <a:rPr lang="en-US" altLang="en-US" b="1" dirty="0">
                <a:latin typeface="Arial"/>
                <a:cs typeface="Arial"/>
              </a:rPr>
              <a:t> </a:t>
            </a:r>
            <a:endParaRPr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  <a:p>
            <a:pPr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Char char="•"/>
              <a:tabLst/>
            </a:pP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EB883A-CD74-4CCC-7655-6666D4F199D9}"/>
              </a:ext>
            </a:extLst>
          </p:cNvPr>
          <p:cNvSpPr txBox="1"/>
          <p:nvPr/>
        </p:nvSpPr>
        <p:spPr>
          <a:xfrm>
            <a:off x="8163279" y="1602052"/>
            <a:ext cx="291034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L" b="1" dirty="0"/>
              <a:t>Servicios</a:t>
            </a:r>
          </a:p>
        </p:txBody>
      </p:sp>
      <p:pic>
        <p:nvPicPr>
          <p:cNvPr id="2" name="Imagen 1" descr="3d ilustración de software desarrollo 36584129 PNG">
            <a:extLst>
              <a:ext uri="{FF2B5EF4-FFF2-40B4-BE49-F238E27FC236}">
                <a16:creationId xmlns:a16="http://schemas.microsoft.com/office/drawing/2014/main" id="{9A4FBA47-D85A-0CD6-F716-2A7E4BB59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3194878"/>
            <a:ext cx="2743200" cy="27432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EBC297C-E2D6-0D77-6255-CB3157BA3660}"/>
              </a:ext>
            </a:extLst>
          </p:cNvPr>
          <p:cNvSpPr txBox="1"/>
          <p:nvPr/>
        </p:nvSpPr>
        <p:spPr>
          <a:xfrm>
            <a:off x="7881482" y="1973574"/>
            <a:ext cx="3533112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/>
              <a:t>Servidor </a:t>
            </a:r>
            <a:r>
              <a:rPr lang="es-ES" b="1" err="1"/>
              <a:t>On</a:t>
            </a:r>
            <a:r>
              <a:rPr lang="es-ES" b="1" dirty="0"/>
              <a:t> Premise </a:t>
            </a:r>
            <a:r>
              <a:rPr lang="es-ES" b="1" err="1"/>
              <a:t>backend</a:t>
            </a:r>
            <a:r>
              <a:rPr lang="es-ES" b="1" dirty="0"/>
              <a:t> y </a:t>
            </a:r>
            <a:r>
              <a:rPr lang="es-ES" b="1" err="1"/>
              <a:t>Frontend</a:t>
            </a:r>
            <a:endParaRPr lang="es-ES" b="1"/>
          </a:p>
          <a:p>
            <a:endParaRPr lang="es-ES" b="1" dirty="0"/>
          </a:p>
          <a:p>
            <a:r>
              <a:rPr lang="es-ES" b="1" dirty="0"/>
              <a:t>BD Cloud </a:t>
            </a:r>
            <a:r>
              <a:rPr lang="es-ES" b="1" err="1"/>
              <a:t>Neon</a:t>
            </a:r>
            <a:r>
              <a:rPr lang="es-ES" b="1" dirty="0"/>
              <a:t>:$36.000(transaccional y almacenamiento de imágenes, escalabilidad)</a:t>
            </a:r>
          </a:p>
          <a:p>
            <a:endParaRPr lang="es-ES" b="1" dirty="0"/>
          </a:p>
          <a:p>
            <a:r>
              <a:rPr lang="es-ES" b="1" dirty="0"/>
              <a:t>Dominio y Certificados SSL: $15.000</a:t>
            </a:r>
          </a:p>
          <a:p>
            <a:endParaRPr lang="es-ES" b="1" dirty="0"/>
          </a:p>
          <a:p>
            <a:r>
              <a:rPr lang="es-ES" b="1" dirty="0"/>
              <a:t>Api Google </a:t>
            </a:r>
            <a:r>
              <a:rPr lang="es-ES" b="1" err="1"/>
              <a:t>Maps</a:t>
            </a:r>
            <a:r>
              <a:rPr lang="es-ES" b="1" dirty="0"/>
              <a:t>: $90.000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C744FA7-6114-54ED-81C7-F22364DA4E47}"/>
              </a:ext>
            </a:extLst>
          </p:cNvPr>
          <p:cNvSpPr txBox="1"/>
          <p:nvPr/>
        </p:nvSpPr>
        <p:spPr>
          <a:xfrm>
            <a:off x="8091095" y="5759354"/>
            <a:ext cx="29810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Total = $141.000 Mensual</a:t>
            </a:r>
          </a:p>
        </p:txBody>
      </p:sp>
      <p:pic>
        <p:nvPicPr>
          <p:cNvPr id="10" name="Imagen 9" descr="Implementación - Iconos gratis de negocios y finanzas">
            <a:extLst>
              <a:ext uri="{FF2B5EF4-FFF2-40B4-BE49-F238E27FC236}">
                <a16:creationId xmlns:a16="http://schemas.microsoft.com/office/drawing/2014/main" id="{4D5DAA62-A04E-CA69-2C6D-178C872C4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7894" y="1842247"/>
            <a:ext cx="3487271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820176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0D242-A5CE-D9D1-B6AC-92830D9F2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264" y="359298"/>
            <a:ext cx="3171825" cy="1325563"/>
          </a:xfrm>
        </p:spPr>
        <p:txBody>
          <a:bodyPr/>
          <a:lstStyle/>
          <a:p>
            <a:r>
              <a:rPr lang="es-ES" dirty="0"/>
              <a:t>RETORNO DE INVERSIÓN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4FB5D8-9752-D194-A090-1DFE6E8B6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3117" y="5568763"/>
            <a:ext cx="3709708" cy="1152246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2400" b="1" dirty="0"/>
              <a:t>Costos iniciales Fijos:</a:t>
            </a:r>
          </a:p>
          <a:p>
            <a:r>
              <a:rPr lang="es-ES" sz="2400" b="1" dirty="0"/>
              <a:t>$8.000.000</a:t>
            </a:r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E504CD-83AF-99F5-5F5B-AB750F16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noProof="0" smtClean="0"/>
              <a:t>17</a:t>
            </a:fld>
            <a:endParaRPr lang="es-ES" noProof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388130E7-F458-1016-9133-E05B60684EF0}"/>
              </a:ext>
            </a:extLst>
          </p:cNvPr>
          <p:cNvSpPr txBox="1">
            <a:spLocks/>
          </p:cNvSpPr>
          <p:nvPr/>
        </p:nvSpPr>
        <p:spPr>
          <a:xfrm>
            <a:off x="7458635" y="1025900"/>
            <a:ext cx="3832972" cy="28779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b="1" dirty="0">
                <a:solidFill>
                  <a:schemeClr val="tx1"/>
                </a:solidFill>
              </a:rPr>
              <a:t>Costos variables mensuales:</a:t>
            </a:r>
          </a:p>
          <a:p>
            <a:r>
              <a:rPr lang="es-ES" sz="2400" b="1" dirty="0">
                <a:solidFill>
                  <a:schemeClr val="tx1"/>
                </a:solidFill>
              </a:rPr>
              <a:t>$141.000 Inicialmente</a:t>
            </a:r>
            <a:r>
              <a:rPr lang="es-ES" sz="2400" dirty="0">
                <a:solidFill>
                  <a:schemeClr val="tx1"/>
                </a:solidFill>
              </a:rPr>
              <a:t> Susceptible a escalabilidad por usuarios y almacenamiento de datos</a:t>
            </a:r>
          </a:p>
          <a:p>
            <a:endParaRPr lang="es-ES" sz="2400" dirty="0">
              <a:solidFill>
                <a:schemeClr val="tx1"/>
              </a:solidFill>
            </a:endParaRPr>
          </a:p>
          <a:p>
            <a:endParaRPr lang="es-ES" sz="2400" dirty="0">
              <a:solidFill>
                <a:schemeClr val="tx1"/>
              </a:solidFill>
            </a:endParaRPr>
          </a:p>
          <a:p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4B86617-64C9-2DD1-5C13-C988B8E29665}"/>
              </a:ext>
            </a:extLst>
          </p:cNvPr>
          <p:cNvSpPr txBox="1"/>
          <p:nvPr/>
        </p:nvSpPr>
        <p:spPr>
          <a:xfrm>
            <a:off x="973992" y="2094853"/>
            <a:ext cx="4485397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b="1" dirty="0"/>
              <a:t>Retorno</a:t>
            </a:r>
          </a:p>
          <a:p>
            <a:endParaRPr lang="es-ES" dirty="0"/>
          </a:p>
          <a:p>
            <a:r>
              <a:rPr lang="es-ES" dirty="0"/>
              <a:t>Promociones por tiempos de disponibilidad:</a:t>
            </a:r>
          </a:p>
          <a:p>
            <a:endParaRPr lang="es-ES" dirty="0"/>
          </a:p>
          <a:p>
            <a:pPr marL="285750" indent="-285750">
              <a:buFont typeface="Arial"/>
              <a:buChar char="•"/>
            </a:pPr>
            <a:r>
              <a:rPr lang="es-ES" dirty="0"/>
              <a:t>7 Días $1000</a:t>
            </a:r>
          </a:p>
          <a:p>
            <a:pPr marL="285750" indent="-285750">
              <a:buFont typeface="Arial"/>
              <a:buChar char="•"/>
            </a:pPr>
            <a:r>
              <a:rPr lang="es-ES" dirty="0"/>
              <a:t>30 Días $3.300</a:t>
            </a:r>
          </a:p>
          <a:p>
            <a:pPr marL="285750" indent="-285750">
              <a:buFont typeface="Arial"/>
              <a:buChar char="•"/>
            </a:pPr>
            <a:r>
              <a:rPr lang="es-ES" dirty="0"/>
              <a:t>90 Días $9.000</a:t>
            </a:r>
          </a:p>
          <a:p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95164B7-3195-59F2-B9C8-722481A0D6D4}"/>
              </a:ext>
            </a:extLst>
          </p:cNvPr>
          <p:cNvSpPr txBox="1"/>
          <p:nvPr/>
        </p:nvSpPr>
        <p:spPr>
          <a:xfrm>
            <a:off x="148299" y="5895107"/>
            <a:ext cx="4582005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Dato  Curiosos desde SII:</a:t>
            </a:r>
            <a:br>
              <a:rPr lang="en-US" dirty="0"/>
            </a:br>
            <a:r>
              <a:rPr lang="es-ES" dirty="0"/>
              <a:t>Pymes, microempresas en la región metropolitana es de 475.000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2221AF2-6BF2-CBC4-188E-D8C96CF04E5B}"/>
              </a:ext>
            </a:extLst>
          </p:cNvPr>
          <p:cNvSpPr txBox="1"/>
          <p:nvPr/>
        </p:nvSpPr>
        <p:spPr>
          <a:xfrm>
            <a:off x="974696" y="4774398"/>
            <a:ext cx="539627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/>
              <a:t>Promedio de 500 Clientes con publicaciones de 30 días, se retornaríamos la inversión en tan solo 5 meses y 13 días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2FC5263-97F3-D9A9-938F-327BAA3A0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984" y="356667"/>
            <a:ext cx="3012623" cy="80554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B96E44F-0052-8C4A-CB6D-54C3E3E08CF9}"/>
              </a:ext>
            </a:extLst>
          </p:cNvPr>
          <p:cNvSpPr txBox="1"/>
          <p:nvPr/>
        </p:nvSpPr>
        <p:spPr>
          <a:xfrm>
            <a:off x="7447467" y="4167969"/>
            <a:ext cx="379616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 dirty="0"/>
              <a:t>Mantención Mensual</a:t>
            </a:r>
          </a:p>
          <a:p>
            <a:pPr marL="285750" indent="-285750">
              <a:buFont typeface="Arial,Sans-Serif"/>
              <a:buChar char="•"/>
            </a:pPr>
            <a:r>
              <a:rPr lang="es-ES" sz="2400" dirty="0"/>
              <a:t>$300.000 Mantención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4350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/>
          <p:nvPr/>
        </p:nvSpPr>
        <p:spPr>
          <a:xfrm>
            <a:off x="-938695" y="220308"/>
            <a:ext cx="8757479" cy="102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Veamos cómo funciona </a:t>
            </a:r>
            <a:r>
              <a:rPr lang="es-CL" sz="360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JobSy</a:t>
            </a:r>
            <a:endParaRPr lang="es-ES" err="1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 descr="Imagen que contiene interior, naranja, tabla, computadora&#10;&#10;El contenido generado por IA puede ser incorrecto.">
            <a:extLst>
              <a:ext uri="{FF2B5EF4-FFF2-40B4-BE49-F238E27FC236}">
                <a16:creationId xmlns:a16="http://schemas.microsoft.com/office/drawing/2014/main" id="{2242FCD8-2CD2-B6FA-E050-A24D51873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146" y="1601887"/>
            <a:ext cx="7402287" cy="4887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1314A71-387A-D99B-5514-1A40F701D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/>
          <p:nvPr/>
        </p:nvSpPr>
        <p:spPr>
          <a:xfrm>
            <a:off x="132522" y="443095"/>
            <a:ext cx="2724269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2D4093-058E-ED30-BDA9-F56AC4E64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7BD1BBD1-1ED4-6FF3-9C0B-4CC6BB559673}"/>
              </a:ext>
            </a:extLst>
          </p:cNvPr>
          <p:cNvSpPr/>
          <p:nvPr/>
        </p:nvSpPr>
        <p:spPr>
          <a:xfrm flipH="1">
            <a:off x="2764478" y="1511738"/>
            <a:ext cx="3691071" cy="5006086"/>
          </a:xfrm>
          <a:prstGeom prst="snip1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3">
            <a:extLst>
              <a:ext uri="{FF2B5EF4-FFF2-40B4-BE49-F238E27FC236}">
                <a16:creationId xmlns:a16="http://schemas.microsoft.com/office/drawing/2014/main" id="{F76EDDBB-5CA3-EC48-3ABB-44F3838DF2C4}"/>
              </a:ext>
            </a:extLst>
          </p:cNvPr>
          <p:cNvSpPr/>
          <p:nvPr/>
        </p:nvSpPr>
        <p:spPr>
          <a:xfrm flipH="1">
            <a:off x="7723000" y="1511738"/>
            <a:ext cx="3691071" cy="5006086"/>
          </a:xfrm>
          <a:prstGeom prst="snip1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554A0ED-E893-BA05-A044-1DF6C2282E31}"/>
              </a:ext>
            </a:extLst>
          </p:cNvPr>
          <p:cNvSpPr txBox="1"/>
          <p:nvPr/>
        </p:nvSpPr>
        <p:spPr>
          <a:xfrm>
            <a:off x="3050082" y="2506381"/>
            <a:ext cx="3257088" cy="37849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Tasa de Conversión (Emprendedores Cobertura)</a:t>
            </a:r>
            <a:endParaRPr lang="es-ES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s-ES" dirty="0"/>
              <a:t>Aumento de puntos comerciales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s-ES" dirty="0"/>
              <a:t>Comunidad más informada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s-ES" dirty="0"/>
              <a:t>Promover la venta de servicios y productos de una comunidad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AFD3D2A-84BD-9A73-9452-A079746BE15B}"/>
              </a:ext>
            </a:extLst>
          </p:cNvPr>
          <p:cNvSpPr txBox="1"/>
          <p:nvPr/>
        </p:nvSpPr>
        <p:spPr>
          <a:xfrm>
            <a:off x="8163212" y="2152990"/>
            <a:ext cx="3257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/>
              <a:t>Informático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865B999-564B-6799-D2D5-A4ACB68853D7}"/>
              </a:ext>
            </a:extLst>
          </p:cNvPr>
          <p:cNvSpPr txBox="1"/>
          <p:nvPr/>
        </p:nvSpPr>
        <p:spPr>
          <a:xfrm>
            <a:off x="3050081" y="2053598"/>
            <a:ext cx="325708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/>
              <a:t>Comercial</a:t>
            </a:r>
            <a:br>
              <a:rPr lang="es-ES"/>
            </a:br>
            <a:br>
              <a:rPr lang="es-ES"/>
            </a:br>
            <a:endParaRPr lang="es-ES" err="1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94F9A87-3607-7ED7-4B41-3E7CAACB5256}"/>
              </a:ext>
            </a:extLst>
          </p:cNvPr>
          <p:cNvSpPr txBox="1"/>
          <p:nvPr/>
        </p:nvSpPr>
        <p:spPr>
          <a:xfrm>
            <a:off x="8163211" y="2506380"/>
            <a:ext cx="3257088" cy="24468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s-ES"/>
              <a:t>Sistema Escalable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s-ES"/>
              <a:t>Seguridad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s-ES"/>
              <a:t>Integridad</a:t>
            </a:r>
          </a:p>
          <a:p>
            <a:pPr marL="285750" indent="-285750"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Disponibilidad y Rendimiento</a:t>
            </a:r>
          </a:p>
          <a:p>
            <a:pPr marL="285750" indent="-285750"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Calidad del Código</a:t>
            </a:r>
            <a:br>
              <a:rPr lang="es-ES"/>
            </a:br>
            <a:endParaRPr lang="es-ES"/>
          </a:p>
        </p:txBody>
      </p:sp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/>
          <p:nvPr/>
        </p:nvSpPr>
        <p:spPr>
          <a:xfrm>
            <a:off x="92666" y="444164"/>
            <a:ext cx="661504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lang="es-ES"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F4E0B28-53D4-42DC-6A0E-09D6D1019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  <p:pic>
        <p:nvPicPr>
          <p:cNvPr id="2" name="Imagen 1" descr="Tiempo rápido - Iconos gratis de hora y fecha">
            <a:extLst>
              <a:ext uri="{FF2B5EF4-FFF2-40B4-BE49-F238E27FC236}">
                <a16:creationId xmlns:a16="http://schemas.microsoft.com/office/drawing/2014/main" id="{B3683D41-E5FE-E7BC-969A-56B20A656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4197961" y="2157707"/>
            <a:ext cx="3569528" cy="25738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n 3" descr="Descarga iconos gratuitos de Errores en PNG y SVG">
            <a:extLst>
              <a:ext uri="{FF2B5EF4-FFF2-40B4-BE49-F238E27FC236}">
                <a16:creationId xmlns:a16="http://schemas.microsoft.com/office/drawing/2014/main" id="{9D49309F-DEF7-4492-1C8E-2146C417A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556" y="2094947"/>
            <a:ext cx="2458279" cy="24582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n 4" descr="eXtremaNET | 01-requerimientos">
            <a:extLst>
              <a:ext uri="{FF2B5EF4-FFF2-40B4-BE49-F238E27FC236}">
                <a16:creationId xmlns:a16="http://schemas.microsoft.com/office/drawing/2014/main" id="{5CE0C7AE-FBF2-B39A-70DC-ADD6BFD6F1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365" y="2231887"/>
            <a:ext cx="2438400" cy="2438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FBF54BA-AB65-B565-77E7-EE88AA56F3D9}"/>
              </a:ext>
            </a:extLst>
          </p:cNvPr>
          <p:cNvSpPr txBox="1"/>
          <p:nvPr/>
        </p:nvSpPr>
        <p:spPr>
          <a:xfrm>
            <a:off x="996458" y="5023757"/>
            <a:ext cx="23600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/>
              <a:t>Requerimientos faltantes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F368C5C-969B-8B0F-570A-021253A60415}"/>
              </a:ext>
            </a:extLst>
          </p:cNvPr>
          <p:cNvSpPr txBox="1"/>
          <p:nvPr/>
        </p:nvSpPr>
        <p:spPr>
          <a:xfrm>
            <a:off x="5116148" y="5164640"/>
            <a:ext cx="19734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/>
              <a:t>Gestión tiempo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FDD72B1-2D2B-4A2C-09FD-F728F8234938}"/>
              </a:ext>
            </a:extLst>
          </p:cNvPr>
          <p:cNvSpPr txBox="1"/>
          <p:nvPr/>
        </p:nvSpPr>
        <p:spPr>
          <a:xfrm>
            <a:off x="8771066" y="5023757"/>
            <a:ext cx="23600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/>
              <a:t>Errores técnicos inicialmente y otros </a:t>
            </a:r>
          </a:p>
        </p:txBody>
      </p:sp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"/>
          <p:cNvSpPr txBox="1"/>
          <p:nvPr/>
        </p:nvSpPr>
        <p:spPr>
          <a:xfrm>
            <a:off x="96580" y="5861744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Muchas gracias por su atención</a:t>
            </a:r>
            <a:endParaRPr lang="es-ES"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0" name="Google Shape;230;p14" title="Gemini_Generated_Image_xh4kptxh4kptxh4k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1826" y="1075975"/>
            <a:ext cx="7172599" cy="47817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8268A2A-99D6-9AD8-8BEB-4D524404E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4800" y="270092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Una sola líne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4BA2C8-4C3C-4809-AD4F-FED9B4D74B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14FED0-9A95-4A83-8CAA-A3BB5938F805}">
  <ds:schemaRefs>
    <ds:schemaRef ds:uri="http://schemas.microsoft.com/sharepoint/v3"/>
    <ds:schemaRef ds:uri="http://www.w3.org/XML/1998/namespace"/>
    <ds:schemaRef ds:uri="71af3243-3dd4-4a8d-8c0d-dd76da1f02a5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230e9df3-be65-4c73-a93b-d1236ebd677e"/>
    <ds:schemaRef ds:uri="http://schemas.microsoft.com/office/infopath/2007/PartnerControls"/>
    <ds:schemaRef ds:uri="http://schemas.microsoft.com/office/2006/documentManagement/types"/>
    <ds:schemaRef ds:uri="16c05727-aa75-4e4a-9b5f-8a80a1165891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75DC67E-4FAC-4989-A1C6-9CCFAE7240BA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Colorful Certificate</Template>
  <TotalTime>0</TotalTime>
  <Words>742</Words>
  <Application>Microsoft Office PowerPoint</Application>
  <PresentationFormat>Widescreen</PresentationFormat>
  <Paragraphs>164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38</vt:lpstr>
      <vt:lpstr>Arial</vt:lpstr>
      <vt:lpstr>Arial,Sans-Serif</vt:lpstr>
      <vt:lpstr>Calibri</vt:lpstr>
      <vt:lpstr>Calibri,Sans-Serif</vt:lpstr>
      <vt:lpstr>Tenorite</vt:lpstr>
      <vt:lpstr>Una sola línea</vt:lpstr>
      <vt:lpstr>PowerPoint Presentation</vt:lpstr>
      <vt:lpstr>PowerPoint Presentation</vt:lpstr>
      <vt:lpstr>PowerPoint Presentation</vt:lpstr>
      <vt:lpstr>Resultados</vt:lpstr>
      <vt:lpstr>Propuesta</vt:lpstr>
      <vt:lpstr>PowerPoint Presentation</vt:lpstr>
      <vt:lpstr>Propuesta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RETORNO DE INVERSIÓN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HECTOR IGNACIO MOISES HIDALGO TEILLIER</cp:lastModifiedBy>
  <cp:revision>251</cp:revision>
  <dcterms:created xsi:type="dcterms:W3CDTF">2025-11-22T06:25:08Z</dcterms:created>
  <dcterms:modified xsi:type="dcterms:W3CDTF">2025-12-09T04:24:47Z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